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70" r:id="rId13"/>
    <p:sldId id="271" r:id="rId14"/>
    <p:sldId id="272" r:id="rId15"/>
    <p:sldId id="264" r:id="rId16"/>
    <p:sldId id="265" r:id="rId17"/>
    <p:sldId id="266" r:id="rId18"/>
    <p:sldId id="267" r:id="rId19"/>
    <p:sldId id="268" r:id="rId20"/>
    <p:sldId id="26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custDataLst>
    <p:tags r:id="rId2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B068"/>
    <a:srgbClr val="6CF3FA"/>
    <a:srgbClr val="3E592F"/>
    <a:srgbClr val="FFD966"/>
    <a:srgbClr val="B9A6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22"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gs" Target="tags/tag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FDE5399D-4AFD-2692-AB15-E5A9E394631C}"/>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DCFD2FA6-2F9F-4E6F-CDD5-5911B48F43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3E37A6B7-A232-E696-2C4A-057F3B2C013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78892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C9845F09-C995-CC06-7850-9FF53C959315}"/>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A515EDC2-F702-2CA3-9860-95AA5E67A8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D76B350F-BBC5-4BE5-7C83-409BCF9CCEA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51201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F049D684-C3ED-9978-0A6A-10E15558DAF7}"/>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58460721-15B0-A852-5183-4CB499020A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BE00E1AB-C203-0AE7-53BD-D76A5DD133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24293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3.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hyperlink" Target="https://www.geeksforgeeks.org/computer-networks/computer-network-aaa-authentication-authorization-and-accounting/" TargetMode="External"/><Relationship Id="rId5" Type="http://schemas.openxmlformats.org/officeDocument/2006/relationships/hyperlink" Target="https://martinfowler.com/articles/web-security-basics.html" TargetMode="External"/><Relationship Id="rId4" Type="http://schemas.openxmlformats.org/officeDocument/2006/relationships/hyperlink" Target="https://www.mend.io/blog/secure-cod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LaTisha Burns</a:t>
            </a:r>
            <a:endParaRPr dirty="0"/>
          </a:p>
          <a:p>
            <a:pPr marL="0" lvl="0" indent="0" algn="l" rtl="0">
              <a:lnSpc>
                <a:spcPct val="70000"/>
              </a:lnSpc>
              <a:spcBef>
                <a:spcPts val="1000"/>
              </a:spcBef>
              <a:spcAft>
                <a:spcPts val="0"/>
              </a:spcAft>
              <a:buClr>
                <a:schemeClr val="lt1"/>
              </a:buClr>
              <a:buSzPts val="1850"/>
              <a:buNone/>
            </a:pPr>
            <a:endParaRPr sz="1850" i="1" dirty="0"/>
          </a:p>
          <a:p>
            <a:pPr marL="0" lvl="0" indent="0" algn="l" rtl="0">
              <a:lnSpc>
                <a:spcPct val="70000"/>
              </a:lnSpc>
              <a:spcBef>
                <a:spcPts val="1000"/>
              </a:spcBef>
              <a:spcAft>
                <a:spcPts val="0"/>
              </a:spcAft>
              <a:buSzPts val="1850"/>
              <a:buNone/>
            </a:pPr>
            <a:endParaRPr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333375" y="1714500"/>
            <a:ext cx="11172825" cy="4504185"/>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pPr>
            <a:r>
              <a:rPr lang="en-US" sz="1900" dirty="0"/>
              <a:t>Green Pace’s security policy helps developers build safer software. Defense-in-depth means using more than one layer of security, such as secure coding, encryption, access control, testing, and automation. This helps protect the system even if one security layer fails.</a:t>
            </a:r>
            <a:endParaRPr sz="1900"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1" y="1457325"/>
            <a:ext cx="2981324" cy="5295900"/>
          </a:xfrm>
          <a:prstGeom prst="rect">
            <a:avLst/>
          </a:prstGeom>
          <a:noFill/>
          <a:ln>
            <a:noFill/>
          </a:ln>
        </p:spPr>
        <p:txBody>
          <a:bodyPr spcFirstLastPara="1" wrap="square" lIns="91425" tIns="45700" rIns="91425" bIns="45700" anchor="t" anchorCtr="0">
            <a:noAutofit/>
          </a:bodyPr>
          <a:lstStyle/>
          <a:p>
            <a:pPr marL="228600" lvl="0" indent="0">
              <a:lnSpc>
                <a:spcPct val="107916"/>
              </a:lnSpc>
              <a:spcBef>
                <a:spcPts val="0"/>
              </a:spcBef>
              <a:buNone/>
            </a:pPr>
            <a:r>
              <a:rPr lang="en-US" sz="1900" b="1" dirty="0"/>
              <a:t>Unlikely:</a:t>
            </a:r>
          </a:p>
          <a:p>
            <a:pPr marL="228600" lvl="0" indent="0">
              <a:lnSpc>
                <a:spcPct val="107916"/>
              </a:lnSpc>
              <a:spcBef>
                <a:spcPts val="0"/>
              </a:spcBef>
              <a:buNone/>
            </a:pPr>
            <a:r>
              <a:rPr lang="en-US" sz="1900" dirty="0"/>
              <a:t>Low chance of being exploited.</a:t>
            </a:r>
          </a:p>
          <a:p>
            <a:pPr marL="228600" lvl="0" indent="0">
              <a:lnSpc>
                <a:spcPct val="107916"/>
              </a:lnSpc>
              <a:spcBef>
                <a:spcPts val="0"/>
              </a:spcBef>
              <a:buNone/>
            </a:pPr>
            <a:br>
              <a:rPr lang="en-US" sz="1900" dirty="0"/>
            </a:br>
            <a:r>
              <a:rPr lang="en-US" sz="1900" b="1" dirty="0"/>
              <a:t>Low Priority:</a:t>
            </a:r>
            <a:r>
              <a:rPr lang="en-US" sz="1900" dirty="0"/>
              <a:t> </a:t>
            </a:r>
          </a:p>
          <a:p>
            <a:pPr marL="228600" lvl="0" indent="0">
              <a:lnSpc>
                <a:spcPct val="107916"/>
              </a:lnSpc>
              <a:spcBef>
                <a:spcPts val="0"/>
              </a:spcBef>
              <a:buNone/>
            </a:pPr>
            <a:r>
              <a:rPr lang="en-US" sz="1900" dirty="0"/>
              <a:t>Lower risk or easier to fix later.</a:t>
            </a:r>
          </a:p>
          <a:p>
            <a:pPr marL="228600" lvl="0" indent="0">
              <a:lnSpc>
                <a:spcPct val="107916"/>
              </a:lnSpc>
              <a:spcBef>
                <a:spcPts val="0"/>
              </a:spcBef>
              <a:buNone/>
            </a:pPr>
            <a:br>
              <a:rPr lang="en-US" sz="1900" dirty="0"/>
            </a:br>
            <a:r>
              <a:rPr lang="en-US" sz="1900" b="1" dirty="0"/>
              <a:t>Likely:</a:t>
            </a:r>
            <a:r>
              <a:rPr lang="en-US" sz="1900" dirty="0"/>
              <a:t> </a:t>
            </a:r>
          </a:p>
          <a:p>
            <a:pPr marL="228600" lvl="0" indent="0">
              <a:lnSpc>
                <a:spcPct val="107916"/>
              </a:lnSpc>
              <a:spcBef>
                <a:spcPts val="0"/>
              </a:spcBef>
              <a:buNone/>
            </a:pPr>
            <a:r>
              <a:rPr lang="en-US" sz="1900" dirty="0"/>
              <a:t>Possible security issue that should be reviewed.</a:t>
            </a:r>
          </a:p>
          <a:p>
            <a:pPr marL="228600" lvl="0" indent="0">
              <a:lnSpc>
                <a:spcPct val="107916"/>
              </a:lnSpc>
              <a:spcBef>
                <a:spcPts val="0"/>
              </a:spcBef>
              <a:buNone/>
            </a:pPr>
            <a:br>
              <a:rPr lang="en-US" sz="1900" dirty="0"/>
            </a:br>
            <a:r>
              <a:rPr lang="en-US" sz="1900" b="1" dirty="0"/>
              <a:t>Priority:</a:t>
            </a:r>
            <a:r>
              <a:rPr lang="en-US" sz="1900" dirty="0"/>
              <a:t> </a:t>
            </a:r>
          </a:p>
          <a:p>
            <a:pPr marL="228600" lvl="0" indent="0">
              <a:lnSpc>
                <a:spcPct val="107916"/>
              </a:lnSpc>
              <a:spcBef>
                <a:spcPts val="0"/>
              </a:spcBef>
              <a:buNone/>
            </a:pPr>
            <a:r>
              <a:rPr lang="en-US" sz="1900" dirty="0"/>
              <a:t>Serious issue that should be fixed first.</a:t>
            </a:r>
            <a:endParaRPr sz="1900" dirty="0"/>
          </a:p>
        </p:txBody>
      </p:sp>
      <p:graphicFrame>
        <p:nvGraphicFramePr>
          <p:cNvPr id="161" name="Google Shape;161;p4" descr="Alt text required"/>
          <p:cNvGraphicFramePr/>
          <p:nvPr>
            <p:extLst>
              <p:ext uri="{D42A27DB-BD31-4B8C-83A1-F6EECF244321}">
                <p14:modId xmlns:p14="http://schemas.microsoft.com/office/powerpoint/2010/main" val="1391288373"/>
              </p:ext>
            </p:extLst>
          </p:nvPr>
        </p:nvGraphicFramePr>
        <p:xfrm>
          <a:off x="3171900" y="2561050"/>
          <a:ext cx="7835225" cy="3720015"/>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82B068"/>
                          </a:solidFill>
                        </a:rPr>
                        <a:t>Likely</a:t>
                      </a:r>
                    </a:p>
                    <a:p>
                      <a:pPr marL="285750" marR="0" lvl="0" indent="-285750" algn="l" rtl="0">
                        <a:lnSpc>
                          <a:spcPct val="100000"/>
                        </a:lnSpc>
                        <a:spcBef>
                          <a:spcPts val="0"/>
                        </a:spcBef>
                        <a:spcAft>
                          <a:spcPts val="0"/>
                        </a:spcAft>
                        <a:buClr>
                          <a:srgbClr val="82B068"/>
                        </a:buClr>
                        <a:buSzPct val="100000"/>
                        <a:buFont typeface="Arial" panose="020B0604020202020204" pitchFamily="34" charset="0"/>
                        <a:buChar char="•"/>
                      </a:pPr>
                      <a:r>
                        <a:rPr lang="en-US" sz="2000" u="none" strike="noStrike" cap="none" dirty="0">
                          <a:solidFill>
                            <a:srgbClr val="82B068"/>
                          </a:solidFill>
                        </a:rPr>
                        <a:t>STD-002-CPP</a:t>
                      </a:r>
                    </a:p>
                    <a:p>
                      <a:pPr marL="285750" marR="0" lvl="0" indent="-285750" algn="l" rtl="0">
                        <a:lnSpc>
                          <a:spcPct val="100000"/>
                        </a:lnSpc>
                        <a:spcBef>
                          <a:spcPts val="0"/>
                        </a:spcBef>
                        <a:spcAft>
                          <a:spcPts val="0"/>
                        </a:spcAft>
                        <a:buClr>
                          <a:srgbClr val="82B068"/>
                        </a:buClr>
                        <a:buSzPct val="100000"/>
                        <a:buFont typeface="Arial" panose="020B0604020202020204" pitchFamily="34" charset="0"/>
                        <a:buChar char="•"/>
                      </a:pPr>
                      <a:r>
                        <a:rPr lang="en-US" sz="2000" u="none" strike="noStrike" cap="none" dirty="0">
                          <a:solidFill>
                            <a:srgbClr val="82B068"/>
                          </a:solidFill>
                        </a:rPr>
                        <a:t>STD-009-CPP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82B068"/>
                          </a:solidFill>
                        </a:rPr>
                        <a:t>Priority</a:t>
                      </a:r>
                    </a:p>
                    <a:p>
                      <a:pPr marL="285750" marR="0" lvl="0" indent="-285750" algn="l" rtl="0">
                        <a:lnSpc>
                          <a:spcPct val="100000"/>
                        </a:lnSpc>
                        <a:spcBef>
                          <a:spcPts val="0"/>
                        </a:spcBef>
                        <a:spcAft>
                          <a:spcPts val="0"/>
                        </a:spcAft>
                        <a:buClr>
                          <a:srgbClr val="82B068"/>
                        </a:buClr>
                        <a:buSzPct val="100000"/>
                        <a:buFont typeface="Arial" panose="020B0604020202020204" pitchFamily="34" charset="0"/>
                        <a:buChar char="•"/>
                      </a:pPr>
                      <a:r>
                        <a:rPr lang="en-US" sz="2000" u="none" strike="noStrike" cap="none" dirty="0">
                          <a:solidFill>
                            <a:srgbClr val="82B068"/>
                          </a:solidFill>
                        </a:rPr>
                        <a:t>STD-003-CPP</a:t>
                      </a:r>
                    </a:p>
                    <a:p>
                      <a:pPr marL="285750" marR="0" lvl="0" indent="-285750" algn="l" rtl="0">
                        <a:lnSpc>
                          <a:spcPct val="100000"/>
                        </a:lnSpc>
                        <a:spcBef>
                          <a:spcPts val="0"/>
                        </a:spcBef>
                        <a:spcAft>
                          <a:spcPts val="0"/>
                        </a:spcAft>
                        <a:buClr>
                          <a:srgbClr val="82B068"/>
                        </a:buClr>
                        <a:buSzPct val="100000"/>
                        <a:buFont typeface="Arial" panose="020B0604020202020204" pitchFamily="34" charset="0"/>
                        <a:buChar char="•"/>
                      </a:pPr>
                      <a:r>
                        <a:rPr lang="en-US" sz="2000" u="none" strike="noStrike" cap="none" dirty="0">
                          <a:solidFill>
                            <a:srgbClr val="82B068"/>
                          </a:solidFill>
                        </a:rPr>
                        <a:t>STD-004-CPP</a:t>
                      </a:r>
                    </a:p>
                    <a:p>
                      <a:pPr marL="285750" marR="0" lvl="0" indent="-285750" algn="l" rtl="0">
                        <a:lnSpc>
                          <a:spcPct val="100000"/>
                        </a:lnSpc>
                        <a:spcBef>
                          <a:spcPts val="0"/>
                        </a:spcBef>
                        <a:spcAft>
                          <a:spcPts val="0"/>
                        </a:spcAft>
                        <a:buClr>
                          <a:srgbClr val="82B068"/>
                        </a:buClr>
                        <a:buSzPct val="100000"/>
                        <a:buFont typeface="Arial" panose="020B0604020202020204" pitchFamily="34" charset="0"/>
                        <a:buChar char="•"/>
                      </a:pPr>
                      <a:r>
                        <a:rPr lang="en-US" sz="2000" u="none" strike="noStrike" cap="none" dirty="0">
                          <a:solidFill>
                            <a:srgbClr val="82B068"/>
                          </a:solidFill>
                        </a:rPr>
                        <a:t>STD-005-CPP</a:t>
                      </a:r>
                    </a:p>
                    <a:p>
                      <a:pPr marL="285750" marR="0" lvl="0" indent="-285750" algn="l" rtl="0">
                        <a:lnSpc>
                          <a:spcPct val="100000"/>
                        </a:lnSpc>
                        <a:spcBef>
                          <a:spcPts val="0"/>
                        </a:spcBef>
                        <a:spcAft>
                          <a:spcPts val="0"/>
                        </a:spcAft>
                        <a:buClr>
                          <a:srgbClr val="82B068"/>
                        </a:buClr>
                        <a:buSzPct val="100000"/>
                        <a:buFont typeface="Arial" panose="020B0604020202020204" pitchFamily="34" charset="0"/>
                        <a:buChar char="•"/>
                      </a:pPr>
                      <a:r>
                        <a:rPr lang="en-US" sz="2000" u="none" strike="noStrike" cap="none" dirty="0">
                          <a:solidFill>
                            <a:srgbClr val="82B068"/>
                          </a:solidFill>
                        </a:rPr>
                        <a:t>STD-010-CPP</a:t>
                      </a:r>
                      <a:endParaRPr sz="2000" u="none" strike="noStrike" cap="none" dirty="0">
                        <a:solidFill>
                          <a:srgbClr val="82B068"/>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82B068"/>
                          </a:solidFill>
                        </a:rPr>
                        <a:t>Low priority</a:t>
                      </a:r>
                      <a:endParaRPr lang="en-US" sz="2000" u="none" strike="noStrike" cap="none" dirty="0">
                        <a:solidFill>
                          <a:srgbClr val="82B068"/>
                        </a:solidFill>
                      </a:endParaRPr>
                    </a:p>
                    <a:p>
                      <a:pPr marL="285750" marR="0" lvl="0" indent="-285750" algn="l" rtl="0">
                        <a:lnSpc>
                          <a:spcPct val="100000"/>
                        </a:lnSpc>
                        <a:spcBef>
                          <a:spcPts val="0"/>
                        </a:spcBef>
                        <a:spcAft>
                          <a:spcPts val="0"/>
                        </a:spcAft>
                        <a:buClr>
                          <a:srgbClr val="82B068"/>
                        </a:buClr>
                        <a:buSzPct val="100000"/>
                        <a:buFont typeface="Arial" panose="020B0604020202020204" pitchFamily="34" charset="0"/>
                        <a:buChar char="•"/>
                      </a:pPr>
                      <a:r>
                        <a:rPr lang="en-US" sz="2000" u="none" strike="noStrike" cap="none" dirty="0">
                          <a:solidFill>
                            <a:srgbClr val="82B068"/>
                          </a:solidFill>
                        </a:rPr>
                        <a:t>STD-006-CPP</a:t>
                      </a:r>
                    </a:p>
                    <a:p>
                      <a:pPr marL="285750" marR="0" lvl="0" indent="-285750" algn="l" rtl="0">
                        <a:lnSpc>
                          <a:spcPct val="100000"/>
                        </a:lnSpc>
                        <a:spcBef>
                          <a:spcPts val="0"/>
                        </a:spcBef>
                        <a:spcAft>
                          <a:spcPts val="0"/>
                        </a:spcAft>
                        <a:buClr>
                          <a:srgbClr val="82B068"/>
                        </a:buClr>
                        <a:buSzPct val="100000"/>
                        <a:buFont typeface="Arial" panose="020B0604020202020204" pitchFamily="34" charset="0"/>
                        <a:buChar char="•"/>
                      </a:pPr>
                      <a:r>
                        <a:rPr lang="en-US" sz="2000" u="none" strike="noStrike" cap="none" dirty="0">
                          <a:solidFill>
                            <a:srgbClr val="82B068"/>
                          </a:solidFill>
                        </a:rPr>
                        <a:t>STD-008-CPP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82B068"/>
                          </a:solidFill>
                        </a:rPr>
                        <a:t>Unlikely</a:t>
                      </a:r>
                      <a:endParaRPr sz="1400" u="none" strike="noStrike" cap="none" dirty="0">
                        <a:solidFill>
                          <a:srgbClr val="82B068"/>
                        </a:solidFill>
                      </a:endParaRPr>
                    </a:p>
                    <a:p>
                      <a:pPr marL="285750" marR="0" lvl="0" indent="-285750" algn="l" rtl="0">
                        <a:lnSpc>
                          <a:spcPct val="100000"/>
                        </a:lnSpc>
                        <a:spcBef>
                          <a:spcPts val="0"/>
                        </a:spcBef>
                        <a:spcAft>
                          <a:spcPts val="0"/>
                        </a:spcAft>
                        <a:buClr>
                          <a:srgbClr val="82B068"/>
                        </a:buClr>
                        <a:buSzPct val="100000"/>
                        <a:buFont typeface="Arial" panose="020B0604020202020204" pitchFamily="34" charset="0"/>
                        <a:buChar char="•"/>
                      </a:pPr>
                      <a:r>
                        <a:rPr lang="en-US" sz="2000" u="none" strike="noStrike" cap="none" dirty="0">
                          <a:solidFill>
                            <a:srgbClr val="82B068"/>
                          </a:solidFill>
                        </a:rPr>
                        <a:t>STD-001-CPP</a:t>
                      </a:r>
                    </a:p>
                    <a:p>
                      <a:pPr marL="285750" marR="0" lvl="0" indent="-285750" algn="l" defTabSz="914400" rtl="0" eaLnBrk="1" fontAlgn="auto" latinLnBrk="0" hangingPunct="1">
                        <a:lnSpc>
                          <a:spcPct val="100000"/>
                        </a:lnSpc>
                        <a:spcBef>
                          <a:spcPts val="0"/>
                        </a:spcBef>
                        <a:spcAft>
                          <a:spcPts val="0"/>
                        </a:spcAft>
                        <a:buClr>
                          <a:srgbClr val="82B068"/>
                        </a:buClr>
                        <a:buSzPct val="100000"/>
                        <a:buFont typeface="Arial" panose="020B0604020202020204" pitchFamily="34" charset="0"/>
                        <a:buChar char="•"/>
                        <a:tabLst/>
                        <a:defRPr/>
                      </a:pPr>
                      <a:r>
                        <a:rPr lang="en-US" sz="2000" u="none" strike="noStrike" cap="none" dirty="0">
                          <a:solidFill>
                            <a:srgbClr val="82B068"/>
                          </a:solidFill>
                        </a:rPr>
                        <a:t>STD-007-CPP</a:t>
                      </a:r>
                    </a:p>
                    <a:p>
                      <a:pPr marL="285750" marR="0" lvl="0" indent="-285750" algn="l" rtl="0">
                        <a:lnSpc>
                          <a:spcPct val="100000"/>
                        </a:lnSpc>
                        <a:spcBef>
                          <a:spcPts val="0"/>
                        </a:spcBef>
                        <a:spcAft>
                          <a:spcPts val="0"/>
                        </a:spcAft>
                        <a:buClr>
                          <a:srgbClr val="82B068"/>
                        </a:buClr>
                        <a:buSzPct val="100000"/>
                        <a:buFont typeface="Arial" panose="020B0604020202020204" pitchFamily="34" charset="0"/>
                        <a:buChar char="•"/>
                      </a:pPr>
                      <a:endParaRPr lang="en-US" sz="2000" u="none" strike="noStrike" cap="none" dirty="0">
                        <a:solidFill>
                          <a:srgbClr val="82B068"/>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473474" y="488148"/>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sp>
        <p:nvSpPr>
          <p:cNvPr id="168" name="Google Shape;168;p5"/>
          <p:cNvSpPr txBox="1">
            <a:spLocks noGrp="1"/>
          </p:cNvSpPr>
          <p:nvPr>
            <p:ph type="body" idx="1"/>
          </p:nvPr>
        </p:nvSpPr>
        <p:spPr>
          <a:xfrm>
            <a:off x="685800" y="1781176"/>
            <a:ext cx="10820400" cy="4437510"/>
          </a:xfrm>
          <a:prstGeom prst="rect">
            <a:avLst/>
          </a:prstGeom>
          <a:noFill/>
          <a:ln>
            <a:noFill/>
          </a:ln>
        </p:spPr>
        <p:txBody>
          <a:bodyPr spcFirstLastPara="1" wrap="square" lIns="91425" tIns="45700" rIns="91425" bIns="45700" anchor="t" anchorCtr="0">
            <a:normAutofit/>
          </a:bodyPr>
          <a:lstStyle/>
          <a:p>
            <a:pPr marL="0" lvl="0" indent="0">
              <a:spcBef>
                <a:spcPts val="0"/>
              </a:spcBef>
              <a:buSzPts val="2200"/>
              <a:buNone/>
            </a:pPr>
            <a:r>
              <a:rPr lang="en-US" dirty="0">
                <a:solidFill>
                  <a:schemeClr val="tx1"/>
                </a:solidFill>
              </a:rPr>
              <a:t>.</a:t>
            </a: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70305667-C9FE-2492-A62C-EFE53A56E858}"/>
              </a:ext>
            </a:extLst>
          </p:cNvPr>
          <p:cNvGraphicFramePr>
            <a:graphicFrameLocks noGrp="1"/>
          </p:cNvGraphicFramePr>
          <p:nvPr>
            <p:extLst>
              <p:ext uri="{D42A27DB-BD31-4B8C-83A1-F6EECF244321}">
                <p14:modId xmlns:p14="http://schemas.microsoft.com/office/powerpoint/2010/main" val="580166463"/>
              </p:ext>
            </p:extLst>
          </p:nvPr>
        </p:nvGraphicFramePr>
        <p:xfrm>
          <a:off x="738188" y="1643063"/>
          <a:ext cx="10293498" cy="4491064"/>
        </p:xfrm>
        <a:graphic>
          <a:graphicData uri="http://schemas.openxmlformats.org/drawingml/2006/table">
            <a:tbl>
              <a:tblPr firstRow="1" bandRow="1">
                <a:tableStyleId>{802198C4-3087-4945-87E3-76CBB3509B7E}</a:tableStyleId>
              </a:tblPr>
              <a:tblGrid>
                <a:gridCol w="5146749">
                  <a:extLst>
                    <a:ext uri="{9D8B030D-6E8A-4147-A177-3AD203B41FA5}">
                      <a16:colId xmlns:a16="http://schemas.microsoft.com/office/drawing/2014/main" val="730521690"/>
                    </a:ext>
                  </a:extLst>
                </a:gridCol>
                <a:gridCol w="5146749">
                  <a:extLst>
                    <a:ext uri="{9D8B030D-6E8A-4147-A177-3AD203B41FA5}">
                      <a16:colId xmlns:a16="http://schemas.microsoft.com/office/drawing/2014/main" val="1554138372"/>
                    </a:ext>
                  </a:extLst>
                </a:gridCol>
              </a:tblGrid>
              <a:tr h="0">
                <a:tc>
                  <a:txBody>
                    <a:bodyPr/>
                    <a:lstStyle/>
                    <a:p>
                      <a:pPr marL="228600" lvl="0" indent="-228600">
                        <a:spcBef>
                          <a:spcPts val="0"/>
                        </a:spcBef>
                        <a:buSzPts val="2200"/>
                      </a:pPr>
                      <a:r>
                        <a:rPr lang="en-US" sz="1400" dirty="0">
                          <a:solidFill>
                            <a:srgbClr val="82B068"/>
                          </a:solidFill>
                        </a:rPr>
                        <a:t>Validate input data</a:t>
                      </a:r>
                    </a:p>
                  </a:txBody>
                  <a:tcPr/>
                </a:tc>
                <a:tc>
                  <a:txBody>
                    <a:bodyPr/>
                    <a:lstStyle/>
                    <a:p>
                      <a:r>
                        <a:rPr lang="en-US" sz="1400" dirty="0">
                          <a:solidFill>
                            <a:srgbClr val="82B068"/>
                          </a:solidFill>
                        </a:rPr>
                        <a:t>STD-001-CPP, STD-002-CPP, STD-003-CPP, STD-004-CPP, STD-010-CPP</a:t>
                      </a:r>
                    </a:p>
                  </a:txBody>
                  <a:tcPr/>
                </a:tc>
                <a:extLst>
                  <a:ext uri="{0D108BD9-81ED-4DB2-BD59-A6C34878D82A}">
                    <a16:rowId xmlns:a16="http://schemas.microsoft.com/office/drawing/2014/main" val="1569841697"/>
                  </a:ext>
                </a:extLst>
              </a:tr>
              <a:tr h="43184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82B068"/>
                          </a:solidFill>
                        </a:rPr>
                        <a:t>Heed compiler warnings</a:t>
                      </a:r>
                    </a:p>
                  </a:txBody>
                  <a:tcPr/>
                </a:tc>
                <a:tc>
                  <a:txBody>
                    <a:bodyPr/>
                    <a:lstStyle/>
                    <a:p>
                      <a:r>
                        <a:rPr lang="en-US" sz="1400" dirty="0">
                          <a:solidFill>
                            <a:srgbClr val="82B068"/>
                          </a:solidFill>
                        </a:rPr>
                        <a:t>STD-009-CPP</a:t>
                      </a:r>
                    </a:p>
                  </a:txBody>
                  <a:tcPr/>
                </a:tc>
                <a:extLst>
                  <a:ext uri="{0D108BD9-81ED-4DB2-BD59-A6C34878D82A}">
                    <a16:rowId xmlns:a16="http://schemas.microsoft.com/office/drawing/2014/main" val="3365514484"/>
                  </a:ext>
                </a:extLst>
              </a:tr>
              <a:tr h="43184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82B068"/>
                          </a:solidFill>
                        </a:rPr>
                        <a:t>Design for security</a:t>
                      </a:r>
                    </a:p>
                  </a:txBody>
                  <a:tcPr/>
                </a:tc>
                <a:tc>
                  <a:txBody>
                    <a:bodyPr/>
                    <a:lstStyle/>
                    <a:p>
                      <a:r>
                        <a:rPr lang="en-US" dirty="0">
                          <a:solidFill>
                            <a:srgbClr val="82B068"/>
                          </a:solidFill>
                        </a:rPr>
                        <a:t>Secure design / access control policy</a:t>
                      </a:r>
                      <a:endParaRPr lang="en-US" sz="1400" dirty="0">
                        <a:solidFill>
                          <a:srgbClr val="82B068"/>
                        </a:solidFill>
                      </a:endParaRPr>
                    </a:p>
                  </a:txBody>
                  <a:tcPr/>
                </a:tc>
                <a:extLst>
                  <a:ext uri="{0D108BD9-81ED-4DB2-BD59-A6C34878D82A}">
                    <a16:rowId xmlns:a16="http://schemas.microsoft.com/office/drawing/2014/main" val="4185938290"/>
                  </a:ext>
                </a:extLst>
              </a:tr>
              <a:tr h="43184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82B068"/>
                          </a:solidFill>
                        </a:rPr>
                        <a:t>Keep it simple</a:t>
                      </a:r>
                    </a:p>
                  </a:txBody>
                  <a:tcPr/>
                </a:tc>
                <a:tc>
                  <a:txBody>
                    <a:bodyPr/>
                    <a:lstStyle/>
                    <a:p>
                      <a:r>
                        <a:rPr lang="en-US" dirty="0">
                          <a:solidFill>
                            <a:srgbClr val="82B068"/>
                          </a:solidFill>
                        </a:rPr>
                        <a:t>STD-005-CPP, STD-006-CPP, STD-007-CPP, STD-008-CPP</a:t>
                      </a:r>
                      <a:endParaRPr lang="en-US" sz="1400" dirty="0">
                        <a:solidFill>
                          <a:srgbClr val="82B068"/>
                        </a:solidFill>
                      </a:endParaRPr>
                    </a:p>
                  </a:txBody>
                  <a:tcPr/>
                </a:tc>
                <a:extLst>
                  <a:ext uri="{0D108BD9-81ED-4DB2-BD59-A6C34878D82A}">
                    <a16:rowId xmlns:a16="http://schemas.microsoft.com/office/drawing/2014/main" val="2510987457"/>
                  </a:ext>
                </a:extLst>
              </a:tr>
              <a:tr h="43184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82B068"/>
                          </a:solidFill>
                        </a:rPr>
                        <a:t>Default deny</a:t>
                      </a:r>
                    </a:p>
                  </a:txBody>
                  <a:tcPr/>
                </a:tc>
                <a:tc>
                  <a:txBody>
                    <a:bodyPr/>
                    <a:lstStyle/>
                    <a:p>
                      <a:r>
                        <a:rPr lang="en-US" sz="1400" dirty="0">
                          <a:solidFill>
                            <a:srgbClr val="82B068"/>
                          </a:solidFill>
                        </a:rPr>
                        <a:t>Access control policy</a:t>
                      </a:r>
                    </a:p>
                  </a:txBody>
                  <a:tcPr/>
                </a:tc>
                <a:extLst>
                  <a:ext uri="{0D108BD9-81ED-4DB2-BD59-A6C34878D82A}">
                    <a16:rowId xmlns:a16="http://schemas.microsoft.com/office/drawing/2014/main" val="140279366"/>
                  </a:ext>
                </a:extLst>
              </a:tr>
              <a:tr h="43184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82B068"/>
                          </a:solidFill>
                        </a:rPr>
                        <a:t>Use least privilege</a:t>
                      </a:r>
                    </a:p>
                  </a:txBody>
                  <a:tcPr/>
                </a:tc>
                <a:tc>
                  <a:txBody>
                    <a:bodyPr/>
                    <a:lstStyle/>
                    <a:p>
                      <a:r>
                        <a:rPr lang="en-US" sz="1400" dirty="0">
                          <a:solidFill>
                            <a:srgbClr val="82B068"/>
                          </a:solidFill>
                        </a:rPr>
                        <a:t>Access control policy</a:t>
                      </a:r>
                    </a:p>
                  </a:txBody>
                  <a:tcPr/>
                </a:tc>
                <a:extLst>
                  <a:ext uri="{0D108BD9-81ED-4DB2-BD59-A6C34878D82A}">
                    <a16:rowId xmlns:a16="http://schemas.microsoft.com/office/drawing/2014/main" val="4172467567"/>
                  </a:ext>
                </a:extLst>
              </a:tr>
              <a:tr h="43184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82B068"/>
                          </a:solidFill>
                        </a:rPr>
                        <a:t>Sanitize data sent to other systems</a:t>
                      </a:r>
                    </a:p>
                  </a:txBody>
                  <a:tcPr/>
                </a:tc>
                <a:tc>
                  <a:txBody>
                    <a:bodyPr/>
                    <a:lstStyle/>
                    <a:p>
                      <a:r>
                        <a:rPr lang="en-US" sz="1400" dirty="0">
                          <a:solidFill>
                            <a:srgbClr val="82B068"/>
                          </a:solidFill>
                        </a:rPr>
                        <a:t>STD-003-CPP, STD-004-CPP</a:t>
                      </a:r>
                    </a:p>
                  </a:txBody>
                  <a:tcPr/>
                </a:tc>
                <a:extLst>
                  <a:ext uri="{0D108BD9-81ED-4DB2-BD59-A6C34878D82A}">
                    <a16:rowId xmlns:a16="http://schemas.microsoft.com/office/drawing/2014/main" val="2575366910"/>
                  </a:ext>
                </a:extLst>
              </a:tr>
              <a:tr h="51292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82B068"/>
                          </a:solidFill>
                        </a:rPr>
                        <a:t>Practice defense-in-depth</a:t>
                      </a:r>
                    </a:p>
                  </a:txBody>
                  <a:tcPr/>
                </a:tc>
                <a:tc>
                  <a:txBody>
                    <a:bodyPr/>
                    <a:lstStyle/>
                    <a:p>
                      <a:r>
                        <a:rPr lang="en-US" sz="1400" dirty="0">
                          <a:solidFill>
                            <a:srgbClr val="82B068"/>
                          </a:solidFill>
                        </a:rPr>
                        <a:t>STD-004-CPP, STD-005-CPP, STD-006-CPP, STD-007-CPP, STD-010-CPP</a:t>
                      </a:r>
                      <a:endParaRPr lang="en-US" sz="1400" dirty="0"/>
                    </a:p>
                  </a:txBody>
                  <a:tcPr/>
                </a:tc>
                <a:extLst>
                  <a:ext uri="{0D108BD9-81ED-4DB2-BD59-A6C34878D82A}">
                    <a16:rowId xmlns:a16="http://schemas.microsoft.com/office/drawing/2014/main" val="2138037815"/>
                  </a:ext>
                </a:extLst>
              </a:tr>
              <a:tr h="43184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82B068"/>
                          </a:solidFill>
                        </a:rPr>
                        <a:t>Use quality assurance techniques</a:t>
                      </a:r>
                    </a:p>
                  </a:txBody>
                  <a:tcPr/>
                </a:tc>
                <a:tc>
                  <a:txBody>
                    <a:bodyPr/>
                    <a:lstStyle/>
                    <a:p>
                      <a:r>
                        <a:rPr lang="en-US" sz="1400" dirty="0">
                          <a:solidFill>
                            <a:srgbClr val="82B068"/>
                          </a:solidFill>
                        </a:rPr>
                        <a:t>STD-001-CPP through STD-010-CPP</a:t>
                      </a:r>
                    </a:p>
                  </a:txBody>
                  <a:tcPr/>
                </a:tc>
                <a:extLst>
                  <a:ext uri="{0D108BD9-81ED-4DB2-BD59-A6C34878D82A}">
                    <a16:rowId xmlns:a16="http://schemas.microsoft.com/office/drawing/2014/main" val="2013403897"/>
                  </a:ext>
                </a:extLst>
              </a:tr>
              <a:tr h="43184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82B068"/>
                          </a:solidFill>
                        </a:rPr>
                        <a:t>Adopt a secure coding standard</a:t>
                      </a:r>
                    </a:p>
                  </a:txBody>
                  <a:tcPr/>
                </a:tc>
                <a:tc>
                  <a:txBody>
                    <a:bodyPr/>
                    <a:lstStyle/>
                    <a:p>
                      <a:r>
                        <a:rPr lang="en-US" sz="1400" dirty="0">
                          <a:solidFill>
                            <a:srgbClr val="82B068"/>
                          </a:solidFill>
                        </a:rPr>
                        <a:t>STD-001-CPP through STD-010-CPP</a:t>
                      </a:r>
                    </a:p>
                  </a:txBody>
                  <a:tcPr/>
                </a:tc>
                <a:extLst>
                  <a:ext uri="{0D108BD9-81ED-4DB2-BD59-A6C34878D82A}">
                    <a16:rowId xmlns:a16="http://schemas.microsoft.com/office/drawing/2014/main" val="3875394591"/>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CODING STANDARDS</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325A9E10-45ED-A737-DEDC-CF0226EE1FC2}"/>
              </a:ext>
            </a:extLst>
          </p:cNvPr>
          <p:cNvGraphicFramePr>
            <a:graphicFrameLocks noGrp="1"/>
          </p:cNvGraphicFramePr>
          <p:nvPr>
            <p:extLst>
              <p:ext uri="{D42A27DB-BD31-4B8C-83A1-F6EECF244321}">
                <p14:modId xmlns:p14="http://schemas.microsoft.com/office/powerpoint/2010/main" val="3100938656"/>
              </p:ext>
            </p:extLst>
          </p:nvPr>
        </p:nvGraphicFramePr>
        <p:xfrm>
          <a:off x="685800" y="1981200"/>
          <a:ext cx="10477500" cy="3592850"/>
        </p:xfrm>
        <a:graphic>
          <a:graphicData uri="http://schemas.openxmlformats.org/drawingml/2006/table">
            <a:tbl>
              <a:tblPr firstRow="1" bandRow="1">
                <a:tableStyleId>{802198C4-3087-4945-87E3-76CBB3509B7E}</a:tableStyleId>
              </a:tblPr>
              <a:tblGrid>
                <a:gridCol w="5238750">
                  <a:extLst>
                    <a:ext uri="{9D8B030D-6E8A-4147-A177-3AD203B41FA5}">
                      <a16:colId xmlns:a16="http://schemas.microsoft.com/office/drawing/2014/main" val="257949977"/>
                    </a:ext>
                  </a:extLst>
                </a:gridCol>
                <a:gridCol w="5238750">
                  <a:extLst>
                    <a:ext uri="{9D8B030D-6E8A-4147-A177-3AD203B41FA5}">
                      <a16:colId xmlns:a16="http://schemas.microsoft.com/office/drawing/2014/main" val="2376088706"/>
                    </a:ext>
                  </a:extLst>
                </a:gridCol>
              </a:tblGrid>
              <a:tr h="514178">
                <a:tc>
                  <a:txBody>
                    <a:bodyPr/>
                    <a:lstStyle/>
                    <a:p>
                      <a:r>
                        <a:rPr lang="en-US" sz="2000" b="1" dirty="0">
                          <a:solidFill>
                            <a:srgbClr val="82B068"/>
                          </a:solidFill>
                        </a:rPr>
                        <a:t>Highest Priority</a:t>
                      </a:r>
                    </a:p>
                  </a:txBody>
                  <a:tcPr/>
                </a:tc>
                <a:tc>
                  <a:txBody>
                    <a:bodyPr/>
                    <a:lstStyle/>
                    <a:p>
                      <a:r>
                        <a:rPr lang="en-US" sz="2000" b="1" dirty="0">
                          <a:solidFill>
                            <a:srgbClr val="82B068"/>
                          </a:solidFill>
                        </a:rPr>
                        <a:t>Supporting Standards</a:t>
                      </a:r>
                    </a:p>
                  </a:txBody>
                  <a:tcPr/>
                </a:tc>
                <a:extLst>
                  <a:ext uri="{0D108BD9-81ED-4DB2-BD59-A6C34878D82A}">
                    <a16:rowId xmlns:a16="http://schemas.microsoft.com/office/drawing/2014/main" val="1472356471"/>
                  </a:ext>
                </a:extLst>
              </a:tr>
              <a:tr h="586788">
                <a:tc>
                  <a:txBody>
                    <a:bodyPr/>
                    <a:lstStyle/>
                    <a:p>
                      <a:r>
                        <a:rPr lang="en-US" dirty="0">
                          <a:solidFill>
                            <a:srgbClr val="82B068"/>
                          </a:solidFill>
                        </a:rPr>
                        <a:t>STD-004-CPP: Prevent SQL injection </a:t>
                      </a:r>
                    </a:p>
                  </a:txBody>
                  <a:tcPr/>
                </a:tc>
                <a:tc>
                  <a:txBody>
                    <a:bodyPr/>
                    <a:lstStyle/>
                    <a:p>
                      <a:r>
                        <a:rPr lang="en-US" dirty="0">
                          <a:solidFill>
                            <a:srgbClr val="82B068"/>
                          </a:solidFill>
                        </a:rPr>
                        <a:t>STD-001-CPP: Check </a:t>
                      </a:r>
                      <a:r>
                        <a:rPr lang="en-US" dirty="0" err="1">
                          <a:solidFill>
                            <a:srgbClr val="82B068"/>
                          </a:solidFill>
                        </a:rPr>
                        <a:t>enum</a:t>
                      </a:r>
                      <a:r>
                        <a:rPr lang="en-US" dirty="0">
                          <a:solidFill>
                            <a:srgbClr val="82B068"/>
                          </a:solidFill>
                        </a:rPr>
                        <a:t> values </a:t>
                      </a:r>
                    </a:p>
                  </a:txBody>
                  <a:tcPr/>
                </a:tc>
                <a:extLst>
                  <a:ext uri="{0D108BD9-81ED-4DB2-BD59-A6C34878D82A}">
                    <a16:rowId xmlns:a16="http://schemas.microsoft.com/office/drawing/2014/main" val="2060792623"/>
                  </a:ext>
                </a:extLst>
              </a:tr>
              <a:tr h="58678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rgbClr val="82B068"/>
                          </a:solidFill>
                        </a:rPr>
                        <a:t>STD-005-CPP: Do not access freed memory </a:t>
                      </a:r>
                    </a:p>
                    <a:p>
                      <a:endParaRPr lang="en-US" dirty="0">
                        <a:solidFill>
                          <a:srgbClr val="82B068"/>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rgbClr val="82B068"/>
                          </a:solidFill>
                        </a:rPr>
                        <a:t>STD-003-CPP: Use safe string storage </a:t>
                      </a:r>
                    </a:p>
                    <a:p>
                      <a:endParaRPr lang="en-US" dirty="0">
                        <a:solidFill>
                          <a:srgbClr val="82B068"/>
                        </a:solidFill>
                      </a:endParaRPr>
                    </a:p>
                  </a:txBody>
                  <a:tcPr/>
                </a:tc>
                <a:extLst>
                  <a:ext uri="{0D108BD9-81ED-4DB2-BD59-A6C34878D82A}">
                    <a16:rowId xmlns:a16="http://schemas.microsoft.com/office/drawing/2014/main" val="1229846309"/>
                  </a:ext>
                </a:extLst>
              </a:tr>
              <a:tr h="58678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rgbClr val="82B068"/>
                          </a:solidFill>
                        </a:rPr>
                        <a:t>STD-010-CPP: Do not read uninitialized memory </a:t>
                      </a:r>
                    </a:p>
                    <a:p>
                      <a:endParaRPr lang="en-US" dirty="0">
                        <a:solidFill>
                          <a:srgbClr val="82B068"/>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rgbClr val="82B068"/>
                          </a:solidFill>
                        </a:rPr>
                        <a:t>STD-006-CPP: Use assertions carefully </a:t>
                      </a:r>
                    </a:p>
                    <a:p>
                      <a:endParaRPr lang="en-US" dirty="0">
                        <a:solidFill>
                          <a:srgbClr val="82B068"/>
                        </a:solidFill>
                      </a:endParaRPr>
                    </a:p>
                  </a:txBody>
                  <a:tcPr/>
                </a:tc>
                <a:extLst>
                  <a:ext uri="{0D108BD9-81ED-4DB2-BD59-A6C34878D82A}">
                    <a16:rowId xmlns:a16="http://schemas.microsoft.com/office/drawing/2014/main" val="4228175960"/>
                  </a:ext>
                </a:extLst>
              </a:tr>
              <a:tr h="58678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rgbClr val="82B068"/>
                          </a:solidFill>
                        </a:rPr>
                        <a:t>STD-002-CPP: Prevent integer overflow</a:t>
                      </a:r>
                    </a:p>
                    <a:p>
                      <a:endParaRPr lang="en-US" dirty="0">
                        <a:solidFill>
                          <a:srgbClr val="82B068"/>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rgbClr val="82B068"/>
                          </a:solidFill>
                        </a:rPr>
                        <a:t>STD-007-CPP: Avoid </a:t>
                      </a:r>
                      <a:r>
                        <a:rPr lang="en-US" sz="1400" b="0" i="0" u="none" strike="noStrike" cap="none" dirty="0" err="1">
                          <a:solidFill>
                            <a:srgbClr val="82B068"/>
                          </a:solidFill>
                          <a:latin typeface="Arial"/>
                          <a:ea typeface="Arial"/>
                          <a:cs typeface="Arial"/>
                          <a:sym typeface="Arial"/>
                        </a:rPr>
                        <a:t>setjmp</a:t>
                      </a:r>
                      <a:r>
                        <a:rPr lang="en-US" sz="1400" b="0" i="0" u="none" strike="noStrike" cap="none" dirty="0">
                          <a:solidFill>
                            <a:srgbClr val="82B068"/>
                          </a:solidFill>
                          <a:latin typeface="Arial"/>
                          <a:ea typeface="Arial"/>
                          <a:cs typeface="Arial"/>
                          <a:sym typeface="Arial"/>
                        </a:rPr>
                        <a:t>()</a:t>
                      </a:r>
                      <a:r>
                        <a:rPr lang="en-US" dirty="0">
                          <a:solidFill>
                            <a:srgbClr val="82B068"/>
                          </a:solidFill>
                        </a:rPr>
                        <a:t> and </a:t>
                      </a:r>
                      <a:r>
                        <a:rPr lang="en-US" sz="1400" b="0" i="0" u="none" strike="noStrike" cap="none" dirty="0" err="1">
                          <a:solidFill>
                            <a:srgbClr val="82B068"/>
                          </a:solidFill>
                          <a:latin typeface="Arial"/>
                          <a:ea typeface="Arial"/>
                          <a:cs typeface="Arial"/>
                          <a:sym typeface="Arial"/>
                        </a:rPr>
                        <a:t>longjmp</a:t>
                      </a:r>
                      <a:r>
                        <a:rPr lang="en-US" sz="1400" b="0" i="0" u="none" strike="noStrike" cap="none" dirty="0">
                          <a:solidFill>
                            <a:srgbClr val="82B068"/>
                          </a:solidFill>
                          <a:latin typeface="Arial"/>
                          <a:ea typeface="Arial"/>
                          <a:cs typeface="Arial"/>
                          <a:sym typeface="Arial"/>
                        </a:rPr>
                        <a:t>()</a:t>
                      </a:r>
                      <a:r>
                        <a:rPr lang="en-US" dirty="0">
                          <a:solidFill>
                            <a:srgbClr val="82B068"/>
                          </a:solidFill>
                        </a:rPr>
                        <a:t> </a:t>
                      </a:r>
                    </a:p>
                    <a:p>
                      <a:endParaRPr lang="en-US" dirty="0">
                        <a:solidFill>
                          <a:srgbClr val="82B068"/>
                        </a:solidFill>
                      </a:endParaRPr>
                    </a:p>
                  </a:txBody>
                  <a:tcPr/>
                </a:tc>
                <a:extLst>
                  <a:ext uri="{0D108BD9-81ED-4DB2-BD59-A6C34878D82A}">
                    <a16:rowId xmlns:a16="http://schemas.microsoft.com/office/drawing/2014/main" val="521339286"/>
                  </a:ext>
                </a:extLst>
              </a:tr>
              <a:tr h="727560">
                <a:tc>
                  <a:txBody>
                    <a:bodyPr/>
                    <a:lstStyle/>
                    <a:p>
                      <a:endParaRPr lang="en-US" dirty="0">
                        <a:solidFill>
                          <a:srgbClr val="82B068"/>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rgbClr val="82B068"/>
                          </a:solidFill>
                        </a:rPr>
                        <a:t>STD-008-CPP: Remove unused values STD-009-CPP: Fix compiler warnings</a:t>
                      </a:r>
                    </a:p>
                    <a:p>
                      <a:endParaRPr lang="en-US" dirty="0">
                        <a:solidFill>
                          <a:srgbClr val="82B068"/>
                        </a:solidFill>
                      </a:endParaRPr>
                    </a:p>
                  </a:txBody>
                  <a:tcPr/>
                </a:tc>
                <a:extLst>
                  <a:ext uri="{0D108BD9-81ED-4DB2-BD59-A6C34878D82A}">
                    <a16:rowId xmlns:a16="http://schemas.microsoft.com/office/drawing/2014/main" val="734534776"/>
                  </a:ext>
                </a:extLst>
              </a:tr>
            </a:tbl>
          </a:graphicData>
        </a:graphic>
      </p:graphicFrame>
      <p:sp>
        <p:nvSpPr>
          <p:cNvPr id="4" name="Text Placeholder 3">
            <a:extLst>
              <a:ext uri="{FF2B5EF4-FFF2-40B4-BE49-F238E27FC236}">
                <a16:creationId xmlns:a16="http://schemas.microsoft.com/office/drawing/2014/main" id="{BB20FAAF-27A2-69D1-2CEA-A93164852E9E}"/>
              </a:ext>
            </a:extLst>
          </p:cNvPr>
          <p:cNvSpPr>
            <a:spLocks noGrp="1"/>
          </p:cNvSpPr>
          <p:nvPr>
            <p:ph type="body" idx="1"/>
          </p:nvPr>
        </p:nvSpPr>
        <p:spPr>
          <a:xfrm>
            <a:off x="428625" y="5956722"/>
            <a:ext cx="10820400" cy="755692"/>
          </a:xfrm>
        </p:spPr>
        <p:txBody>
          <a:bodyPr/>
          <a:lstStyle/>
          <a:p>
            <a:pPr marL="114300" indent="0">
              <a:buNone/>
            </a:pPr>
            <a:r>
              <a:rPr lang="en-US" sz="1600" b="1" dirty="0">
                <a:solidFill>
                  <a:schemeClr val="accent5">
                    <a:lumMod val="60000"/>
                    <a:lumOff val="40000"/>
                  </a:schemeClr>
                </a:solidFill>
              </a:rPr>
              <a:t>Ranking is based on severity, likelihood, and cost to fix.</a:t>
            </a:r>
            <a:endParaRPr lang="en-US" sz="1600" dirty="0">
              <a:solidFill>
                <a:schemeClr val="accent5">
                  <a:lumMod val="60000"/>
                  <a:lumOff val="40000"/>
                </a:schemeClr>
              </a:solidFill>
            </a:endParaRPr>
          </a:p>
          <a:p>
            <a:pPr marL="114300" indent="0">
              <a:buNone/>
            </a:pPr>
            <a:endParaRPr lang="en-US"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476250" y="1823085"/>
            <a:ext cx="10267950" cy="4024125"/>
          </a:xfrm>
          <a:prstGeom prst="rect">
            <a:avLst/>
          </a:prstGeom>
          <a:noFill/>
          <a:ln>
            <a:noFill/>
          </a:ln>
        </p:spPr>
        <p:txBody>
          <a:bodyPr spcFirstLastPara="1" wrap="square" lIns="91425" tIns="45700" rIns="91425" bIns="45700" anchor="t" anchorCtr="0">
            <a:normAutofit fontScale="92500" lnSpcReduction="20000"/>
          </a:bodyPr>
          <a:lstStyle/>
          <a:p>
            <a:pPr marL="114300" indent="0">
              <a:buNone/>
            </a:pPr>
            <a:r>
              <a:rPr lang="en-US" sz="1600" b="1" u="sng" dirty="0">
                <a:solidFill>
                  <a:schemeClr val="accent5">
                    <a:lumMod val="60000"/>
                    <a:lumOff val="40000"/>
                  </a:schemeClr>
                </a:solidFill>
              </a:rPr>
              <a:t>Encryption at Rest</a:t>
            </a:r>
          </a:p>
          <a:p>
            <a:r>
              <a:rPr lang="en-US" sz="1600" dirty="0">
                <a:solidFill>
                  <a:schemeClr val="accent5">
                    <a:lumMod val="60000"/>
                    <a:lumOff val="40000"/>
                  </a:schemeClr>
                </a:solidFill>
              </a:rPr>
              <a:t>Protects stored data such as files, databases, and backups. </a:t>
            </a:r>
          </a:p>
          <a:p>
            <a:r>
              <a:rPr lang="en-US" sz="1600" dirty="0">
                <a:solidFill>
                  <a:schemeClr val="accent5">
                    <a:lumMod val="60000"/>
                    <a:lumOff val="40000"/>
                  </a:schemeClr>
                </a:solidFill>
              </a:rPr>
              <a:t>Green Pace should encrypt stored information so it cannot be easily read if accessed without permission. </a:t>
            </a:r>
          </a:p>
          <a:p>
            <a:pPr marL="114300" indent="0">
              <a:buNone/>
            </a:pPr>
            <a:endParaRPr lang="en-US" sz="1600" dirty="0">
              <a:solidFill>
                <a:schemeClr val="accent5">
                  <a:lumMod val="60000"/>
                  <a:lumOff val="40000"/>
                </a:schemeClr>
              </a:solidFill>
            </a:endParaRPr>
          </a:p>
          <a:p>
            <a:pPr marL="114300" indent="0">
              <a:buNone/>
            </a:pPr>
            <a:r>
              <a:rPr lang="en-US" sz="1600" b="1" u="sng" dirty="0">
                <a:solidFill>
                  <a:schemeClr val="accent5">
                    <a:lumMod val="60000"/>
                    <a:lumOff val="40000"/>
                  </a:schemeClr>
                </a:solidFill>
              </a:rPr>
              <a:t>Encryption in Flight</a:t>
            </a:r>
          </a:p>
          <a:p>
            <a:r>
              <a:rPr lang="en-US" sz="1600" dirty="0">
                <a:solidFill>
                  <a:schemeClr val="accent5">
                    <a:lumMod val="60000"/>
                    <a:lumOff val="40000"/>
                  </a:schemeClr>
                </a:solidFill>
              </a:rPr>
              <a:t>Protects data while it moves between users, systems, or networks. </a:t>
            </a:r>
          </a:p>
          <a:p>
            <a:r>
              <a:rPr lang="en-US" sz="1600" dirty="0">
                <a:solidFill>
                  <a:schemeClr val="accent5">
                    <a:lumMod val="60000"/>
                    <a:lumOff val="40000"/>
                  </a:schemeClr>
                </a:solidFill>
              </a:rPr>
              <a:t>Green Pace should use secure connections such as HTTPS/TLS for logins, file transfers, and API requests. </a:t>
            </a:r>
          </a:p>
          <a:p>
            <a:pPr marL="114300" indent="0">
              <a:buNone/>
            </a:pPr>
            <a:endParaRPr lang="en-US" sz="1600" dirty="0">
              <a:solidFill>
                <a:schemeClr val="accent5">
                  <a:lumMod val="60000"/>
                  <a:lumOff val="40000"/>
                </a:schemeClr>
              </a:solidFill>
            </a:endParaRPr>
          </a:p>
          <a:p>
            <a:pPr marL="114300" indent="0">
              <a:buNone/>
            </a:pPr>
            <a:r>
              <a:rPr lang="en-US" sz="1600" b="1" u="sng" dirty="0">
                <a:solidFill>
                  <a:schemeClr val="accent5">
                    <a:lumMod val="60000"/>
                    <a:lumOff val="40000"/>
                  </a:schemeClr>
                </a:solidFill>
              </a:rPr>
              <a:t>Encryption in Use</a:t>
            </a:r>
          </a:p>
          <a:p>
            <a:r>
              <a:rPr lang="en-US" sz="1600" dirty="0">
                <a:solidFill>
                  <a:schemeClr val="accent5">
                    <a:lumMod val="60000"/>
                    <a:lumOff val="40000"/>
                  </a:schemeClr>
                </a:solidFill>
              </a:rPr>
              <a:t>Protects data while it is being opened, changed, or processed. </a:t>
            </a:r>
          </a:p>
          <a:p>
            <a:r>
              <a:rPr lang="en-US" sz="1600" dirty="0">
                <a:solidFill>
                  <a:schemeClr val="accent5">
                    <a:lumMod val="60000"/>
                    <a:lumOff val="40000"/>
                  </a:schemeClr>
                </a:solidFill>
              </a:rPr>
              <a:t>Green Pace should limit access to active data and only allow approved users or systems to use it.</a:t>
            </a:r>
          </a:p>
          <a:p>
            <a:endParaRPr lang="en-US" sz="1600" dirty="0">
              <a:solidFill>
                <a:schemeClr val="accent5">
                  <a:lumMod val="60000"/>
                  <a:lumOff val="40000"/>
                </a:schemeClr>
              </a:solidFill>
            </a:endParaRPr>
          </a:p>
          <a:p>
            <a:pPr marL="114300" indent="0" algn="r">
              <a:buNone/>
            </a:pPr>
            <a:r>
              <a:rPr lang="en-US" sz="1600" b="1" dirty="0">
                <a:solidFill>
                  <a:srgbClr val="82B068"/>
                </a:solidFill>
              </a:rPr>
              <a:t>Encryption helps protect data during every stage of its lifecycle.</a:t>
            </a:r>
            <a:endParaRPr lang="en-US" sz="1600" dirty="0">
              <a:solidFill>
                <a:srgbClr val="82B068"/>
              </a:solidFill>
            </a:endParaRPr>
          </a:p>
          <a:p>
            <a:pPr marL="114300" indent="0">
              <a:buNone/>
            </a:pPr>
            <a:endParaRPr lang="en-US" sz="1600" dirty="0">
              <a:solidFill>
                <a:schemeClr val="accent5">
                  <a:lumMod val="60000"/>
                  <a:lumOff val="40000"/>
                </a:schemeClr>
              </a:solidFill>
            </a:endParaRPr>
          </a:p>
          <a:p>
            <a:pPr marL="228600" lvl="0" indent="-228600" algn="l" rtl="0">
              <a:lnSpc>
                <a:spcPct val="90000"/>
              </a:lnSpc>
              <a:spcBef>
                <a:spcPts val="0"/>
              </a:spcBef>
              <a:spcAft>
                <a:spcPts val="0"/>
              </a:spcAft>
              <a:buClr>
                <a:schemeClr val="lt1"/>
              </a:buClr>
              <a:buSzPts val="2000"/>
              <a:buChar char="•"/>
            </a:pPr>
            <a:endParaRPr sz="1600" dirty="0">
              <a:solidFill>
                <a:schemeClr val="accent5">
                  <a:lumMod val="60000"/>
                  <a:lumOff val="40000"/>
                </a:schemeClr>
              </a:solidFill>
            </a:endParaRPr>
          </a:p>
          <a:p>
            <a:pPr marL="228600" lvl="0" indent="-88900" algn="l" rtl="0">
              <a:lnSpc>
                <a:spcPct val="90000"/>
              </a:lnSpc>
              <a:spcBef>
                <a:spcPts val="1000"/>
              </a:spcBef>
              <a:spcAft>
                <a:spcPts val="0"/>
              </a:spcAft>
              <a:buClr>
                <a:schemeClr val="lt1"/>
              </a:buClr>
              <a:buSzPts val="2200"/>
              <a:buNone/>
            </a:pPr>
            <a:endParaRPr dirty="0">
              <a:solidFill>
                <a:schemeClr val="accent5">
                  <a:lumMod val="60000"/>
                  <a:lumOff val="40000"/>
                </a:schemeClr>
              </a:solidFill>
            </a:endParaRP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263674" y="1736901"/>
            <a:ext cx="10820400" cy="4356726"/>
          </a:xfrm>
          <a:prstGeom prst="rect">
            <a:avLst/>
          </a:prstGeom>
          <a:noFill/>
          <a:ln>
            <a:noFill/>
          </a:ln>
        </p:spPr>
        <p:txBody>
          <a:bodyPr spcFirstLastPara="1" wrap="square" lIns="91425" tIns="45700" rIns="91425" bIns="45700" anchor="t" anchorCtr="0">
            <a:normAutofit fontScale="85000" lnSpcReduction="10000"/>
          </a:bodyPr>
          <a:lstStyle/>
          <a:p>
            <a:pPr marL="114300" indent="0">
              <a:buNone/>
            </a:pPr>
            <a:r>
              <a:rPr lang="en-US" b="1" u="sng" dirty="0">
                <a:solidFill>
                  <a:srgbClr val="82B068"/>
                </a:solidFill>
              </a:rPr>
              <a:t>Authentication</a:t>
            </a:r>
          </a:p>
          <a:p>
            <a:r>
              <a:rPr lang="en-US" dirty="0">
                <a:solidFill>
                  <a:srgbClr val="82B068"/>
                </a:solidFill>
              </a:rPr>
              <a:t>Confirms the user is who they say they are. </a:t>
            </a:r>
          </a:p>
          <a:p>
            <a:r>
              <a:rPr lang="en-US" dirty="0">
                <a:solidFill>
                  <a:srgbClr val="82B068"/>
                </a:solidFill>
              </a:rPr>
              <a:t>Green Pace should require secure logins, strong passwords, and account verification. </a:t>
            </a:r>
          </a:p>
          <a:p>
            <a:pPr marL="114300" indent="0">
              <a:buNone/>
            </a:pPr>
            <a:r>
              <a:rPr lang="en-US" b="1" u="sng" dirty="0">
                <a:solidFill>
                  <a:srgbClr val="82B068"/>
                </a:solidFill>
              </a:rPr>
              <a:t>Authorization</a:t>
            </a:r>
          </a:p>
          <a:p>
            <a:r>
              <a:rPr lang="en-US" dirty="0">
                <a:solidFill>
                  <a:srgbClr val="82B068"/>
                </a:solidFill>
              </a:rPr>
              <a:t>Controls what the user is allowed to access after logging in. </a:t>
            </a:r>
          </a:p>
          <a:p>
            <a:r>
              <a:rPr lang="en-US" dirty="0">
                <a:solidFill>
                  <a:srgbClr val="82B068"/>
                </a:solidFill>
              </a:rPr>
              <a:t>Green Pace should only give users access to the data and tools needed for their role. </a:t>
            </a:r>
          </a:p>
          <a:p>
            <a:pPr marL="114300" indent="0">
              <a:buNone/>
            </a:pPr>
            <a:r>
              <a:rPr lang="en-US" b="1" u="sng" dirty="0">
                <a:solidFill>
                  <a:srgbClr val="82B068"/>
                </a:solidFill>
              </a:rPr>
              <a:t>Accounting</a:t>
            </a:r>
          </a:p>
          <a:p>
            <a:r>
              <a:rPr lang="en-US" dirty="0">
                <a:solidFill>
                  <a:srgbClr val="82B068"/>
                </a:solidFill>
              </a:rPr>
              <a:t>Tracks user and system activity. </a:t>
            </a:r>
          </a:p>
          <a:p>
            <a:r>
              <a:rPr lang="en-US" dirty="0">
                <a:solidFill>
                  <a:srgbClr val="82B068"/>
                </a:solidFill>
              </a:rPr>
              <a:t>Green Pace should log important actions such as logins, failed login attempts, database changes, and permission changes.</a:t>
            </a:r>
          </a:p>
          <a:p>
            <a:endParaRPr lang="en-US" dirty="0">
              <a:solidFill>
                <a:srgbClr val="82B068"/>
              </a:solidFill>
            </a:endParaRPr>
          </a:p>
          <a:p>
            <a:pPr marL="114300" indent="0" algn="r">
              <a:buNone/>
            </a:pPr>
            <a:r>
              <a:rPr lang="en-US" sz="1900" b="1" dirty="0">
                <a:solidFill>
                  <a:schemeClr val="accent5">
                    <a:lumMod val="60000"/>
                    <a:lumOff val="40000"/>
                  </a:schemeClr>
                </a:solidFill>
              </a:rPr>
              <a:t>Triple-A supports security by controlling access and keeping a record of important activity.</a:t>
            </a:r>
            <a:endParaRPr lang="en-US" sz="1900" dirty="0">
              <a:solidFill>
                <a:schemeClr val="accent5">
                  <a:lumMod val="60000"/>
                  <a:lumOff val="40000"/>
                </a:schemeClr>
              </a:solidFill>
            </a:endParaRPr>
          </a:p>
          <a:p>
            <a:pPr algn="r"/>
            <a:endParaRPr lang="en-US" dirty="0">
              <a:solidFill>
                <a:srgbClr val="82B068"/>
              </a:solidFill>
            </a:endParaRPr>
          </a:p>
          <a:p>
            <a:pPr marL="228600" lvl="0" indent="-228600" algn="l" rtl="0">
              <a:lnSpc>
                <a:spcPct val="90000"/>
              </a:lnSpc>
              <a:spcBef>
                <a:spcPts val="0"/>
              </a:spcBef>
              <a:spcAft>
                <a:spcPts val="0"/>
              </a:spcAft>
              <a:buClr>
                <a:schemeClr val="lt1"/>
              </a:buClr>
              <a:buSzPts val="2400"/>
              <a:buChar char="•"/>
            </a:pP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p:cNvSpPr txBox="1">
            <a:spLocks noGrp="1"/>
          </p:cNvSpPr>
          <p:nvPr>
            <p:ph type="body" idx="1"/>
          </p:nvPr>
        </p:nvSpPr>
        <p:spPr>
          <a:xfrm>
            <a:off x="1059399" y="1300394"/>
            <a:ext cx="9837201" cy="5074564"/>
          </a:xfrm>
          <a:prstGeom prst="rect">
            <a:avLst/>
          </a:prstGeom>
          <a:noFill/>
          <a:ln>
            <a:noFill/>
          </a:ln>
        </p:spPr>
        <p:txBody>
          <a:bodyPr spcFirstLastPara="1" wrap="square" lIns="91425" tIns="45700" rIns="91425" bIns="45700" anchor="t" anchorCtr="0">
            <a:noAutofit/>
          </a:bodyPr>
          <a:lstStyle/>
          <a:p>
            <a:pPr marL="0" lvl="0" indent="0">
              <a:buNone/>
            </a:pPr>
            <a:r>
              <a:rPr lang="en-US" dirty="0">
                <a:solidFill>
                  <a:srgbClr val="82B068"/>
                </a:solidFill>
              </a:rPr>
              <a:t>Unit Test: Collection Creation</a:t>
            </a:r>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indent="0">
              <a:buNone/>
            </a:pPr>
            <a:r>
              <a:rPr lang="en-US" sz="1400" b="1" dirty="0">
                <a:solidFill>
                  <a:schemeClr val="accent5">
                    <a:lumMod val="60000"/>
                    <a:lumOff val="40000"/>
                  </a:schemeClr>
                </a:solidFill>
              </a:rPr>
              <a:t>These tests confirm that the collection is created correctly, is not null, starts empty, and has a size of 0.</a:t>
            </a:r>
            <a:endParaRPr lang="en-US" sz="1400" dirty="0">
              <a:solidFill>
                <a:schemeClr val="accent5">
                  <a:lumMod val="60000"/>
                  <a:lumOff val="40000"/>
                </a:schemeClr>
              </a:solidFill>
            </a:endParaRPr>
          </a:p>
          <a:p>
            <a:pPr marL="0" lvl="0" indent="0">
              <a:buNone/>
            </a:pP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112A6A8D-10FE-189E-C3B8-9AEA1FE2BEC2}"/>
              </a:ext>
            </a:extLst>
          </p:cNvPr>
          <p:cNvPicPr>
            <a:picLocks noChangeAspect="1"/>
          </p:cNvPicPr>
          <p:nvPr/>
        </p:nvPicPr>
        <p:blipFill>
          <a:blip r:embed="rId5"/>
          <a:stretch>
            <a:fillRect/>
          </a:stretch>
        </p:blipFill>
        <p:spPr>
          <a:xfrm>
            <a:off x="3844142" y="1981173"/>
            <a:ext cx="5129213" cy="3713006"/>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EE98DDCA-2C16-1BEA-1FE3-080539D4B8DE}"/>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F0ED873B-F72D-9FCF-5C4B-8D1F096F4599}"/>
              </a:ext>
            </a:extLst>
          </p:cNvPr>
          <p:cNvSpPr txBox="1">
            <a:spLocks noGrp="1"/>
          </p:cNvSpPr>
          <p:nvPr>
            <p:ph type="title"/>
          </p:nvPr>
        </p:nvSpPr>
        <p:spPr>
          <a:xfrm>
            <a:off x="2647950" y="-54749"/>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a:extLst>
              <a:ext uri="{FF2B5EF4-FFF2-40B4-BE49-F238E27FC236}">
                <a16:creationId xmlns:a16="http://schemas.microsoft.com/office/drawing/2014/main" id="{33CF7AFC-DB1B-A6BA-7C8C-95C3FFE9E0B0}"/>
              </a:ext>
            </a:extLst>
          </p:cNvPr>
          <p:cNvSpPr txBox="1">
            <a:spLocks noGrp="1"/>
          </p:cNvSpPr>
          <p:nvPr>
            <p:ph type="body" idx="1"/>
          </p:nvPr>
        </p:nvSpPr>
        <p:spPr>
          <a:xfrm>
            <a:off x="2863318" y="795339"/>
            <a:ext cx="2562225" cy="885823"/>
          </a:xfrm>
          <a:prstGeom prst="rect">
            <a:avLst/>
          </a:prstGeom>
          <a:noFill/>
          <a:ln>
            <a:noFill/>
          </a:ln>
        </p:spPr>
        <p:txBody>
          <a:bodyPr spcFirstLastPara="1" wrap="square" lIns="91425" tIns="45700" rIns="91425" bIns="45700" anchor="t" anchorCtr="0">
            <a:noAutofit/>
          </a:bodyPr>
          <a:lstStyle/>
          <a:p>
            <a:pPr marL="0" lvl="0" indent="0" algn="r">
              <a:buNone/>
            </a:pPr>
            <a:r>
              <a:rPr lang="en-US" sz="2400" b="1" dirty="0">
                <a:solidFill>
                  <a:srgbClr val="82B068"/>
                </a:solidFill>
              </a:rPr>
              <a:t>Unit Test: Adding Values</a:t>
            </a: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p:txBody>
      </p:sp>
      <p:pic>
        <p:nvPicPr>
          <p:cNvPr id="197" name="Google Shape;197;g9504e29505_0_0" descr="Green Pace logo">
            <a:extLst>
              <a:ext uri="{FF2B5EF4-FFF2-40B4-BE49-F238E27FC236}">
                <a16:creationId xmlns:a16="http://schemas.microsoft.com/office/drawing/2014/main" id="{D80CADB9-5C21-F2EE-C89C-39EA82CDBF24}"/>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a:extLst>
              <a:ext uri="{FF2B5EF4-FFF2-40B4-BE49-F238E27FC236}">
                <a16:creationId xmlns:a16="http://schemas.microsoft.com/office/drawing/2014/main" id="{2EA8C80D-6009-D396-28EB-BD5775B9C9BD}"/>
              </a:ext>
            </a:extLst>
          </p:cNvPr>
          <p:cNvPicPr>
            <a:picLocks noChangeAspect="1"/>
          </p:cNvPicPr>
          <p:nvPr/>
        </p:nvPicPr>
        <p:blipFill>
          <a:blip r:embed="rId5"/>
          <a:stretch>
            <a:fillRect/>
          </a:stretch>
        </p:blipFill>
        <p:spPr>
          <a:xfrm>
            <a:off x="5798755" y="1699180"/>
            <a:ext cx="4840670" cy="4758625"/>
          </a:xfrm>
          <a:prstGeom prst="rect">
            <a:avLst/>
          </a:prstGeom>
        </p:spPr>
      </p:pic>
      <p:sp>
        <p:nvSpPr>
          <p:cNvPr id="6" name="TextBox 5">
            <a:extLst>
              <a:ext uri="{FF2B5EF4-FFF2-40B4-BE49-F238E27FC236}">
                <a16:creationId xmlns:a16="http://schemas.microsoft.com/office/drawing/2014/main" id="{0DA41EF5-9874-E02D-5DEB-19817BD0ADC9}"/>
              </a:ext>
            </a:extLst>
          </p:cNvPr>
          <p:cNvSpPr txBox="1"/>
          <p:nvPr/>
        </p:nvSpPr>
        <p:spPr>
          <a:xfrm>
            <a:off x="1228268" y="3734188"/>
            <a:ext cx="3990975" cy="2675604"/>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
                <a:srgbClr val="FFFFFF"/>
              </a:buClr>
              <a:buSzPts val="1800"/>
              <a:buFont typeface="Arial"/>
              <a:buNone/>
              <a:tabLst/>
              <a:defRPr/>
            </a:pPr>
            <a:endParaRPr kumimoji="0" lang="en-US" sz="2400" b="0" i="0" u="none" strike="noStrike" kern="0" cap="none" spc="0" normalizeH="0" baseline="0" noProof="0" dirty="0">
              <a:ln>
                <a:noFill/>
              </a:ln>
              <a:solidFill>
                <a:srgbClr val="32C7A9">
                  <a:lumMod val="60000"/>
                  <a:lumOff val="40000"/>
                </a:srgbClr>
              </a:solidFill>
              <a:effectLst/>
              <a:uLnTx/>
              <a:uFillTx/>
              <a:latin typeface="Century Gothic"/>
              <a:sym typeface="Century Gothic"/>
            </a:endParaRPr>
          </a:p>
          <a:p>
            <a:pPr marL="0" marR="0" lvl="0" indent="0" algn="l" defTabSz="914400" rtl="0" eaLnBrk="1" fontAlgn="auto" latinLnBrk="0" hangingPunct="1">
              <a:lnSpc>
                <a:spcPct val="150000"/>
              </a:lnSpc>
              <a:spcBef>
                <a:spcPts val="1000"/>
              </a:spcBef>
              <a:spcAft>
                <a:spcPts val="0"/>
              </a:spcAft>
              <a:buClr>
                <a:srgbClr val="FFFFFF"/>
              </a:buClr>
              <a:buSzPts val="1800"/>
              <a:buFont typeface="Arial"/>
              <a:buNone/>
              <a:tabLst/>
              <a:defRPr/>
            </a:pPr>
            <a:r>
              <a:rPr kumimoji="0" lang="en-US" sz="1800" b="0" i="0" u="none" strike="noStrike" kern="0" cap="none" spc="0" normalizeH="0" baseline="0" noProof="0" dirty="0">
                <a:ln>
                  <a:noFill/>
                </a:ln>
                <a:solidFill>
                  <a:srgbClr val="32C7A9">
                    <a:lumMod val="60000"/>
                    <a:lumOff val="40000"/>
                  </a:srgbClr>
                </a:solidFill>
                <a:effectLst/>
                <a:uLnTx/>
                <a:uFillTx/>
                <a:latin typeface="Century Gothic"/>
                <a:sym typeface="Century Gothic"/>
              </a:rPr>
              <a:t>These tests confirm that values can be added to the collection and that the collection size updates correctly.</a:t>
            </a:r>
            <a:endParaRPr lang="en-US" sz="1800" dirty="0">
              <a:solidFill>
                <a:srgbClr val="32C7A9">
                  <a:lumMod val="60000"/>
                  <a:lumOff val="40000"/>
                </a:srgbClr>
              </a:solidFill>
              <a:latin typeface="Century Gothic"/>
              <a:sym typeface="Century Gothic"/>
            </a:endParaRPr>
          </a:p>
          <a:p>
            <a:pPr marL="0" marR="0" lvl="0" indent="0" algn="l" defTabSz="914400" rtl="0" eaLnBrk="1" fontAlgn="auto" latinLnBrk="0" hangingPunct="1">
              <a:lnSpc>
                <a:spcPct val="90000"/>
              </a:lnSpc>
              <a:spcBef>
                <a:spcPts val="1000"/>
              </a:spcBef>
              <a:spcAft>
                <a:spcPts val="0"/>
              </a:spcAft>
              <a:buClr>
                <a:srgbClr val="FFFFFF"/>
              </a:buClr>
              <a:buSzPts val="1800"/>
              <a:buFont typeface="Arial"/>
              <a:buNone/>
              <a:tabLst/>
              <a:defRPr/>
            </a:pPr>
            <a:endParaRPr kumimoji="0" lang="en-US" sz="2400" b="0" i="0" u="none" strike="noStrike" kern="0" cap="none" spc="0" normalizeH="0" baseline="0" noProof="0" dirty="0">
              <a:ln>
                <a:noFill/>
              </a:ln>
              <a:solidFill>
                <a:srgbClr val="FFFFFF"/>
              </a:solidFill>
              <a:effectLst/>
              <a:uLnTx/>
              <a:uFillTx/>
              <a:latin typeface="Century Gothic"/>
              <a:sym typeface="Century Gothic"/>
            </a:endParaRPr>
          </a:p>
        </p:txBody>
      </p:sp>
    </p:spTree>
    <p:custDataLst>
      <p:tags r:id="rId1"/>
    </p:custDataLst>
    <p:extLst>
      <p:ext uri="{BB962C8B-B14F-4D97-AF65-F5344CB8AC3E}">
        <p14:creationId xmlns:p14="http://schemas.microsoft.com/office/powerpoint/2010/main" val="4150209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500AF562-0D32-2CDF-F0F8-B4E1843DC81B}"/>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FD7A2897-CCC1-BA08-2E5A-8E20EBFB016D}"/>
              </a:ext>
            </a:extLst>
          </p:cNvPr>
          <p:cNvSpPr txBox="1">
            <a:spLocks noGrp="1"/>
          </p:cNvSpPr>
          <p:nvPr>
            <p:ph type="title"/>
          </p:nvPr>
        </p:nvSpPr>
        <p:spPr>
          <a:xfrm>
            <a:off x="2647950" y="-54749"/>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a:extLst>
              <a:ext uri="{FF2B5EF4-FFF2-40B4-BE49-F238E27FC236}">
                <a16:creationId xmlns:a16="http://schemas.microsoft.com/office/drawing/2014/main" id="{D5988482-B11E-9CBD-AE95-1615FEF83931}"/>
              </a:ext>
            </a:extLst>
          </p:cNvPr>
          <p:cNvSpPr txBox="1">
            <a:spLocks noGrp="1"/>
          </p:cNvSpPr>
          <p:nvPr>
            <p:ph type="body" idx="1"/>
          </p:nvPr>
        </p:nvSpPr>
        <p:spPr>
          <a:xfrm>
            <a:off x="3400426" y="714377"/>
            <a:ext cx="3095624" cy="885823"/>
          </a:xfrm>
          <a:prstGeom prst="rect">
            <a:avLst/>
          </a:prstGeom>
          <a:noFill/>
          <a:ln>
            <a:noFill/>
          </a:ln>
        </p:spPr>
        <p:txBody>
          <a:bodyPr spcFirstLastPara="1" wrap="square" lIns="91425" tIns="45700" rIns="91425" bIns="45700" anchor="t" anchorCtr="0">
            <a:noAutofit/>
          </a:bodyPr>
          <a:lstStyle/>
          <a:p>
            <a:pPr marL="0" lvl="0" indent="0" algn="r">
              <a:buNone/>
            </a:pPr>
            <a:r>
              <a:rPr lang="en-US" sz="2400" b="1" dirty="0">
                <a:solidFill>
                  <a:srgbClr val="82B068"/>
                </a:solidFill>
              </a:rPr>
              <a:t>Unit Test Results</a:t>
            </a:r>
            <a:endParaRPr lang="en-US" sz="2400" b="1"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p:txBody>
      </p:sp>
      <p:pic>
        <p:nvPicPr>
          <p:cNvPr id="197" name="Google Shape;197;g9504e29505_0_0" descr="Green Pace logo">
            <a:extLst>
              <a:ext uri="{FF2B5EF4-FFF2-40B4-BE49-F238E27FC236}">
                <a16:creationId xmlns:a16="http://schemas.microsoft.com/office/drawing/2014/main" id="{AC8C93E2-1CEA-FACD-F6E1-1D03A92FD879}"/>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6" name="TextBox 5">
            <a:extLst>
              <a:ext uri="{FF2B5EF4-FFF2-40B4-BE49-F238E27FC236}">
                <a16:creationId xmlns:a16="http://schemas.microsoft.com/office/drawing/2014/main" id="{0513A58C-0C0E-6A17-56AE-4C5E8A3E1094}"/>
              </a:ext>
            </a:extLst>
          </p:cNvPr>
          <p:cNvSpPr txBox="1"/>
          <p:nvPr/>
        </p:nvSpPr>
        <p:spPr>
          <a:xfrm>
            <a:off x="588474" y="3962788"/>
            <a:ext cx="3990975" cy="2341090"/>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
                <a:srgbClr val="FFFFFF"/>
              </a:buClr>
              <a:buSzPts val="1800"/>
              <a:buFont typeface="Arial"/>
              <a:buNone/>
              <a:tabLst/>
              <a:defRPr/>
            </a:pPr>
            <a:endParaRPr kumimoji="0" lang="en-US" sz="2400" b="0" i="0" u="none" strike="noStrike" kern="0" cap="none" spc="0" normalizeH="0" baseline="0" noProof="0" dirty="0">
              <a:ln>
                <a:noFill/>
              </a:ln>
              <a:solidFill>
                <a:srgbClr val="32C7A9">
                  <a:lumMod val="60000"/>
                  <a:lumOff val="40000"/>
                </a:srgbClr>
              </a:solidFill>
              <a:effectLst/>
              <a:uLnTx/>
              <a:uFillTx/>
              <a:latin typeface="Century Gothic"/>
              <a:sym typeface="Century Gothic"/>
            </a:endParaRPr>
          </a:p>
          <a:p>
            <a:pPr marL="0" marR="0" lvl="0" indent="0" algn="l" defTabSz="914400" rtl="0" eaLnBrk="1" fontAlgn="auto" latinLnBrk="0" hangingPunct="1">
              <a:lnSpc>
                <a:spcPct val="150000"/>
              </a:lnSpc>
              <a:spcBef>
                <a:spcPts val="1000"/>
              </a:spcBef>
              <a:spcAft>
                <a:spcPts val="0"/>
              </a:spcAft>
              <a:buClr>
                <a:srgbClr val="FFFFFF"/>
              </a:buClr>
              <a:buSzPts val="1800"/>
              <a:buFont typeface="Arial"/>
              <a:buNone/>
              <a:tabLst/>
              <a:defRPr/>
            </a:pPr>
            <a:r>
              <a:rPr kumimoji="0" lang="en-US" sz="2000" b="0" i="0" u="none" strike="noStrike" kern="0" cap="none" spc="0" normalizeH="0" baseline="0" noProof="0" dirty="0">
                <a:ln>
                  <a:noFill/>
                </a:ln>
                <a:solidFill>
                  <a:srgbClr val="32C7A9">
                    <a:lumMod val="60000"/>
                    <a:lumOff val="40000"/>
                  </a:srgbClr>
                </a:solidFill>
                <a:effectLst/>
                <a:uLnTx/>
                <a:uFillTx/>
                <a:latin typeface="Century Gothic"/>
                <a:sym typeface="Century Gothic"/>
              </a:rPr>
              <a:t>All 15 unit tests passed, showing that the tested collection functions worked as expected.</a:t>
            </a:r>
            <a:endParaRPr kumimoji="0" lang="en-US" sz="2000" b="0" i="0" u="none" strike="noStrike" kern="0" cap="none" spc="0" normalizeH="0" baseline="0" noProof="0" dirty="0">
              <a:ln>
                <a:noFill/>
              </a:ln>
              <a:solidFill>
                <a:srgbClr val="FFFFFF"/>
              </a:solidFill>
              <a:effectLst/>
              <a:uLnTx/>
              <a:uFillTx/>
              <a:latin typeface="Century Gothic"/>
              <a:sym typeface="Century Gothic"/>
            </a:endParaRPr>
          </a:p>
        </p:txBody>
      </p:sp>
      <p:pic>
        <p:nvPicPr>
          <p:cNvPr id="3" name="Picture 2">
            <a:extLst>
              <a:ext uri="{FF2B5EF4-FFF2-40B4-BE49-F238E27FC236}">
                <a16:creationId xmlns:a16="http://schemas.microsoft.com/office/drawing/2014/main" id="{72033DBB-B500-7B9F-CBA7-D35CAB3E636A}"/>
              </a:ext>
            </a:extLst>
          </p:cNvPr>
          <p:cNvPicPr>
            <a:picLocks noChangeAspect="1"/>
          </p:cNvPicPr>
          <p:nvPr/>
        </p:nvPicPr>
        <p:blipFill>
          <a:blip r:embed="rId5"/>
          <a:srcRect/>
          <a:stretch>
            <a:fillRect/>
          </a:stretch>
        </p:blipFill>
        <p:spPr>
          <a:xfrm>
            <a:off x="4740893" y="1523998"/>
            <a:ext cx="6181737" cy="4619625"/>
          </a:xfrm>
          <a:prstGeom prst="rect">
            <a:avLst/>
          </a:prstGeom>
        </p:spPr>
      </p:pic>
    </p:spTree>
    <p:custDataLst>
      <p:tags r:id="rId1"/>
    </p:custDataLst>
    <p:extLst>
      <p:ext uri="{BB962C8B-B14F-4D97-AF65-F5344CB8AC3E}">
        <p14:creationId xmlns:p14="http://schemas.microsoft.com/office/powerpoint/2010/main" val="3198885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611F28FF-9DF6-B867-6F27-2140C8DD20DD}"/>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F1863E40-536F-2DD4-5DEB-2B430AC6A7B0}"/>
              </a:ext>
            </a:extLst>
          </p:cNvPr>
          <p:cNvSpPr txBox="1">
            <a:spLocks noGrp="1"/>
          </p:cNvSpPr>
          <p:nvPr>
            <p:ph type="title"/>
          </p:nvPr>
        </p:nvSpPr>
        <p:spPr>
          <a:xfrm>
            <a:off x="2647950" y="-54749"/>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a:extLst>
              <a:ext uri="{FF2B5EF4-FFF2-40B4-BE49-F238E27FC236}">
                <a16:creationId xmlns:a16="http://schemas.microsoft.com/office/drawing/2014/main" id="{5FE8C562-577B-9735-4250-3B4985CDC102}"/>
              </a:ext>
            </a:extLst>
          </p:cNvPr>
          <p:cNvSpPr txBox="1">
            <a:spLocks noGrp="1"/>
          </p:cNvSpPr>
          <p:nvPr>
            <p:ph type="body" idx="1"/>
          </p:nvPr>
        </p:nvSpPr>
        <p:spPr>
          <a:xfrm>
            <a:off x="2647950" y="1123952"/>
            <a:ext cx="6019799" cy="885823"/>
          </a:xfrm>
          <a:prstGeom prst="rect">
            <a:avLst/>
          </a:prstGeom>
          <a:noFill/>
          <a:ln>
            <a:noFill/>
          </a:ln>
        </p:spPr>
        <p:txBody>
          <a:bodyPr spcFirstLastPara="1" wrap="square" lIns="91425" tIns="45700" rIns="91425" bIns="45700" anchor="t" anchorCtr="0">
            <a:noAutofit/>
          </a:bodyPr>
          <a:lstStyle/>
          <a:p>
            <a:pPr marL="0" lvl="0" indent="0" algn="r">
              <a:buNone/>
            </a:pPr>
            <a:r>
              <a:rPr lang="en-US" sz="2400" b="1" dirty="0">
                <a:solidFill>
                  <a:srgbClr val="82B068"/>
                </a:solidFill>
              </a:rPr>
              <a:t>Negative Test: Out-of-Range Access</a:t>
            </a: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p:txBody>
      </p:sp>
      <p:pic>
        <p:nvPicPr>
          <p:cNvPr id="197" name="Google Shape;197;g9504e29505_0_0" descr="Green Pace logo">
            <a:extLst>
              <a:ext uri="{FF2B5EF4-FFF2-40B4-BE49-F238E27FC236}">
                <a16:creationId xmlns:a16="http://schemas.microsoft.com/office/drawing/2014/main" id="{C115A5F9-D1B8-135C-7955-8F835F0851AA}"/>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6" name="TextBox 5">
            <a:extLst>
              <a:ext uri="{FF2B5EF4-FFF2-40B4-BE49-F238E27FC236}">
                <a16:creationId xmlns:a16="http://schemas.microsoft.com/office/drawing/2014/main" id="{F327869A-51DC-C360-FE5A-6228D5041165}"/>
              </a:ext>
            </a:extLst>
          </p:cNvPr>
          <p:cNvSpPr txBox="1"/>
          <p:nvPr/>
        </p:nvSpPr>
        <p:spPr>
          <a:xfrm>
            <a:off x="1798149" y="3658297"/>
            <a:ext cx="9631851" cy="1417760"/>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
                <a:srgbClr val="FFFFFF"/>
              </a:buClr>
              <a:buSzPts val="1800"/>
              <a:buFont typeface="Arial"/>
              <a:buNone/>
              <a:tabLst/>
              <a:defRPr/>
            </a:pPr>
            <a:endParaRPr kumimoji="0" lang="en-US" sz="2400" b="0" i="0" u="none" strike="noStrike" kern="0" cap="none" spc="0" normalizeH="0" baseline="0" noProof="0" dirty="0">
              <a:ln>
                <a:noFill/>
              </a:ln>
              <a:solidFill>
                <a:srgbClr val="32C7A9">
                  <a:lumMod val="60000"/>
                  <a:lumOff val="40000"/>
                </a:srgbClr>
              </a:solidFill>
              <a:effectLst/>
              <a:uLnTx/>
              <a:uFillTx/>
              <a:latin typeface="Century Gothic"/>
              <a:sym typeface="Century Gothic"/>
            </a:endParaRPr>
          </a:p>
          <a:p>
            <a:pPr marL="0" marR="0" lvl="0" indent="0" algn="l" defTabSz="914400" rtl="0" eaLnBrk="1" fontAlgn="auto" latinLnBrk="0" hangingPunct="1">
              <a:lnSpc>
                <a:spcPct val="150000"/>
              </a:lnSpc>
              <a:spcBef>
                <a:spcPts val="1000"/>
              </a:spcBef>
              <a:spcAft>
                <a:spcPts val="0"/>
              </a:spcAft>
              <a:buClr>
                <a:srgbClr val="FFFFFF"/>
              </a:buClr>
              <a:buSzPts val="1800"/>
              <a:buFont typeface="Arial"/>
              <a:buNone/>
              <a:tabLst/>
              <a:defRPr/>
            </a:pPr>
            <a:r>
              <a:rPr kumimoji="0" lang="en-US" sz="2000" b="0" i="0" u="none" strike="noStrike" kern="0" cap="none" spc="0" normalizeH="0" baseline="0" noProof="0" dirty="0">
                <a:ln>
                  <a:noFill/>
                </a:ln>
                <a:solidFill>
                  <a:srgbClr val="32C7A9">
                    <a:lumMod val="60000"/>
                    <a:lumOff val="40000"/>
                  </a:srgbClr>
                </a:solidFill>
                <a:effectLst/>
                <a:uLnTx/>
                <a:uFillTx/>
                <a:latin typeface="Century Gothic"/>
                <a:sym typeface="Century Gothic"/>
              </a:rPr>
              <a:t>These negative tests confirm that unsafe access is handled with an exception instead of allowing the program to continue incorrectly.</a:t>
            </a:r>
            <a:endParaRPr kumimoji="0" lang="en-US" sz="2000" b="0" i="0" u="none" strike="noStrike" kern="0" cap="none" spc="0" normalizeH="0" baseline="0" noProof="0" dirty="0">
              <a:ln>
                <a:noFill/>
              </a:ln>
              <a:solidFill>
                <a:srgbClr val="FFFFFF"/>
              </a:solidFill>
              <a:effectLst/>
              <a:uLnTx/>
              <a:uFillTx/>
              <a:latin typeface="Century Gothic"/>
              <a:sym typeface="Century Gothic"/>
            </a:endParaRPr>
          </a:p>
        </p:txBody>
      </p:sp>
      <p:pic>
        <p:nvPicPr>
          <p:cNvPr id="3" name="Picture 2">
            <a:extLst>
              <a:ext uri="{FF2B5EF4-FFF2-40B4-BE49-F238E27FC236}">
                <a16:creationId xmlns:a16="http://schemas.microsoft.com/office/drawing/2014/main" id="{1D0B58A7-0FF1-FF43-F58B-2D6ECC381847}"/>
              </a:ext>
            </a:extLst>
          </p:cNvPr>
          <p:cNvPicPr>
            <a:picLocks noChangeAspect="1"/>
          </p:cNvPicPr>
          <p:nvPr/>
        </p:nvPicPr>
        <p:blipFill>
          <a:blip r:embed="rId5"/>
          <a:srcRect t="78557"/>
          <a:stretch>
            <a:fillRect/>
          </a:stretch>
        </p:blipFill>
        <p:spPr>
          <a:xfrm>
            <a:off x="2854943" y="2693177"/>
            <a:ext cx="6181737" cy="990598"/>
          </a:xfrm>
          <a:prstGeom prst="rect">
            <a:avLst/>
          </a:prstGeom>
        </p:spPr>
      </p:pic>
    </p:spTree>
    <p:custDataLst>
      <p:tags r:id="rId1"/>
    </p:custDataLst>
    <p:extLst>
      <p:ext uri="{BB962C8B-B14F-4D97-AF65-F5344CB8AC3E}">
        <p14:creationId xmlns:p14="http://schemas.microsoft.com/office/powerpoint/2010/main" val="3667982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263674" y="2137410"/>
            <a:ext cx="10537676" cy="4024125"/>
          </a:xfrm>
          <a:prstGeom prst="rect">
            <a:avLst/>
          </a:prstGeom>
          <a:noFill/>
          <a:ln>
            <a:noFill/>
          </a:ln>
        </p:spPr>
        <p:txBody>
          <a:bodyPr spcFirstLastPara="1" wrap="square" lIns="91425" tIns="45700" rIns="91425" bIns="45700" anchor="t" anchorCtr="0">
            <a:normAutofit/>
          </a:bodyPr>
          <a:lstStyle/>
          <a:p>
            <a:pPr marL="457200" lvl="1" indent="0">
              <a:spcBef>
                <a:spcPts val="0"/>
              </a:spcBef>
              <a:buSzPts val="2000"/>
              <a:buNone/>
            </a:pPr>
            <a:r>
              <a:rPr lang="en-US" sz="2400" b="1" dirty="0">
                <a:solidFill>
                  <a:schemeClr val="accent5">
                    <a:lumMod val="60000"/>
                    <a:lumOff val="40000"/>
                  </a:schemeClr>
                </a:solidFill>
              </a:rPr>
              <a:t>Security tools should be used throughout the DevSecOps pipeline</a:t>
            </a:r>
          </a:p>
          <a:p>
            <a:pPr marL="457200" lvl="1" indent="0">
              <a:spcBef>
                <a:spcPts val="0"/>
              </a:spcBef>
              <a:buSzPts val="2000"/>
              <a:buNone/>
            </a:pPr>
            <a:endParaRPr lang="en-US" sz="2400" b="1" dirty="0"/>
          </a:p>
          <a:p>
            <a:r>
              <a:rPr lang="en-US" sz="2000" b="1" dirty="0">
                <a:solidFill>
                  <a:srgbClr val="82B068"/>
                </a:solidFill>
              </a:rPr>
              <a:t>Design:</a:t>
            </a:r>
            <a:r>
              <a:rPr lang="en-US" sz="2000" dirty="0">
                <a:solidFill>
                  <a:srgbClr val="82B068"/>
                </a:solidFill>
              </a:rPr>
              <a:t> Use security policies and OWASP guidance to plan secure architecture. </a:t>
            </a:r>
          </a:p>
          <a:p>
            <a:r>
              <a:rPr lang="en-US" sz="2000" b="1" dirty="0">
                <a:solidFill>
                  <a:srgbClr val="82B068"/>
                </a:solidFill>
              </a:rPr>
              <a:t>Build:</a:t>
            </a:r>
            <a:r>
              <a:rPr lang="en-US" sz="2000" dirty="0">
                <a:solidFill>
                  <a:srgbClr val="82B068"/>
                </a:solidFill>
              </a:rPr>
              <a:t> Use compiler warnings to catch coding mistakes early. </a:t>
            </a:r>
          </a:p>
          <a:p>
            <a:r>
              <a:rPr lang="en-US" sz="2000" b="1" dirty="0">
                <a:solidFill>
                  <a:srgbClr val="82B068"/>
                </a:solidFill>
              </a:rPr>
              <a:t>Test:</a:t>
            </a:r>
            <a:r>
              <a:rPr lang="en-US" sz="2000" dirty="0">
                <a:solidFill>
                  <a:srgbClr val="82B068"/>
                </a:solidFill>
              </a:rPr>
              <a:t> Use unit testing and static analysis tools like Cppcheck or SonarQube. </a:t>
            </a:r>
          </a:p>
          <a:p>
            <a:r>
              <a:rPr lang="en-US" sz="2000" b="1" dirty="0">
                <a:solidFill>
                  <a:srgbClr val="82B068"/>
                </a:solidFill>
              </a:rPr>
              <a:t>Deploy:</a:t>
            </a:r>
            <a:r>
              <a:rPr lang="en-US" sz="2000" dirty="0">
                <a:solidFill>
                  <a:srgbClr val="82B068"/>
                </a:solidFill>
              </a:rPr>
              <a:t> Use automated checks before releasing code. </a:t>
            </a:r>
          </a:p>
          <a:p>
            <a:r>
              <a:rPr lang="en-US" sz="2000" b="1" dirty="0">
                <a:solidFill>
                  <a:srgbClr val="82B068"/>
                </a:solidFill>
              </a:rPr>
              <a:t>Monitor:</a:t>
            </a:r>
            <a:r>
              <a:rPr lang="en-US" sz="2000" dirty="0">
                <a:solidFill>
                  <a:srgbClr val="82B068"/>
                </a:solidFill>
              </a:rPr>
              <a:t> Use logging and monitoring tools to detect suspicious activity. </a:t>
            </a:r>
            <a:endParaRPr lang="en-US" sz="2000" dirty="0">
              <a:solidFill>
                <a:srgbClr val="6CF3FA"/>
              </a:solidFill>
            </a:endParaRPr>
          </a:p>
          <a:p>
            <a:endParaRPr lang="en-US" sz="2000" dirty="0">
              <a:solidFill>
                <a:srgbClr val="6CF3FA"/>
              </a:solidFill>
            </a:endParaRPr>
          </a:p>
          <a:p>
            <a:pPr marL="114300" indent="0" algn="r">
              <a:buNone/>
            </a:pPr>
            <a:r>
              <a:rPr lang="en-US" sz="1600" b="1" dirty="0">
                <a:solidFill>
                  <a:schemeClr val="accent5">
                    <a:lumMod val="60000"/>
                    <a:lumOff val="40000"/>
                  </a:schemeClr>
                </a:solidFill>
              </a:rPr>
              <a:t>Automation helps Green Pace find security issues earlier and more consistently.</a:t>
            </a:r>
            <a:endParaRPr lang="en-US" sz="1600" dirty="0">
              <a:solidFill>
                <a:schemeClr val="accent5">
                  <a:lumMod val="60000"/>
                  <a:lumOff val="40000"/>
                </a:schemeClr>
              </a:solidFill>
            </a:endParaRPr>
          </a:p>
          <a:p>
            <a:endParaRPr lang="en-US" sz="2000" dirty="0">
              <a:solidFill>
                <a:srgbClr val="6CF3FA"/>
              </a:solidFill>
            </a:endParaRPr>
          </a:p>
          <a:p>
            <a:pPr marL="685800" lvl="1" indent="-228600">
              <a:spcBef>
                <a:spcPts val="0"/>
              </a:spcBef>
              <a:buSzPts val="2000"/>
            </a:pPr>
            <a:endParaRPr sz="16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RISKS AND BENEFITS</a:t>
            </a:r>
            <a:endParaRPr dirty="0"/>
          </a:p>
        </p:txBody>
      </p:sp>
      <p:sp>
        <p:nvSpPr>
          <p:cNvPr id="217" name="Google Shape;217;p11"/>
          <p:cNvSpPr txBox="1">
            <a:spLocks noGrp="1"/>
          </p:cNvSpPr>
          <p:nvPr>
            <p:ph type="body" idx="1"/>
          </p:nvPr>
        </p:nvSpPr>
        <p:spPr>
          <a:xfrm>
            <a:off x="523875" y="1543050"/>
            <a:ext cx="9896475" cy="4810125"/>
          </a:xfrm>
          <a:prstGeom prst="rect">
            <a:avLst/>
          </a:prstGeom>
          <a:noFill/>
          <a:ln>
            <a:noFill/>
          </a:ln>
        </p:spPr>
        <p:txBody>
          <a:bodyPr spcFirstLastPara="1" wrap="square" lIns="91425" tIns="45700" rIns="91425" bIns="45700" anchor="t" anchorCtr="0">
            <a:normAutofit fontScale="92500" lnSpcReduction="10000"/>
          </a:bodyPr>
          <a:lstStyle/>
          <a:p>
            <a:pPr marL="114300" indent="0">
              <a:buNone/>
            </a:pPr>
            <a:r>
              <a:rPr lang="en-US" b="1" u="sng" dirty="0">
                <a:solidFill>
                  <a:srgbClr val="82B068"/>
                </a:solidFill>
              </a:rPr>
              <a:t>Act Now</a:t>
            </a:r>
          </a:p>
          <a:p>
            <a:r>
              <a:rPr lang="en-US" sz="1900" dirty="0">
                <a:solidFill>
                  <a:srgbClr val="82B068"/>
                </a:solidFill>
              </a:rPr>
              <a:t>Finds security issues earlier. </a:t>
            </a:r>
          </a:p>
          <a:p>
            <a:r>
              <a:rPr lang="en-US" sz="1900" dirty="0">
                <a:solidFill>
                  <a:srgbClr val="82B068"/>
                </a:solidFill>
              </a:rPr>
              <a:t>Reduces the cost of fixing problems later. </a:t>
            </a:r>
          </a:p>
          <a:p>
            <a:r>
              <a:rPr lang="en-US" sz="1900" dirty="0">
                <a:solidFill>
                  <a:srgbClr val="82B068"/>
                </a:solidFill>
              </a:rPr>
              <a:t>Helps protect customer and company data. </a:t>
            </a:r>
          </a:p>
          <a:p>
            <a:r>
              <a:rPr lang="en-US" sz="1900" dirty="0">
                <a:solidFill>
                  <a:srgbClr val="82B068"/>
                </a:solidFill>
              </a:rPr>
              <a:t>Builds stronger security into the system from the start. </a:t>
            </a:r>
          </a:p>
          <a:p>
            <a:pPr marL="114300" indent="0">
              <a:buNone/>
            </a:pPr>
            <a:endParaRPr lang="en-US" sz="1900" dirty="0">
              <a:solidFill>
                <a:srgbClr val="82B068"/>
              </a:solidFill>
            </a:endParaRPr>
          </a:p>
          <a:p>
            <a:pPr marL="114300" indent="0">
              <a:buNone/>
            </a:pPr>
            <a:r>
              <a:rPr lang="en-US" b="1" u="sng" dirty="0">
                <a:solidFill>
                  <a:srgbClr val="82B068"/>
                </a:solidFill>
              </a:rPr>
              <a:t>Wait</a:t>
            </a:r>
          </a:p>
          <a:p>
            <a:r>
              <a:rPr lang="en-US" sz="1900" dirty="0">
                <a:solidFill>
                  <a:srgbClr val="82B068"/>
                </a:solidFill>
              </a:rPr>
              <a:t>Vulnerabilities may remain in the code longer. </a:t>
            </a:r>
          </a:p>
          <a:p>
            <a:r>
              <a:rPr lang="en-US" sz="1900" dirty="0">
                <a:solidFill>
                  <a:srgbClr val="82B068"/>
                </a:solidFill>
              </a:rPr>
              <a:t>Fixes may take more time and cost more later. </a:t>
            </a:r>
          </a:p>
          <a:p>
            <a:r>
              <a:rPr lang="en-US" sz="1900" dirty="0">
                <a:solidFill>
                  <a:srgbClr val="82B068"/>
                </a:solidFill>
              </a:rPr>
              <a:t>Security issues may delay releases. </a:t>
            </a:r>
          </a:p>
          <a:p>
            <a:r>
              <a:rPr lang="en-US" sz="1900" dirty="0">
                <a:solidFill>
                  <a:srgbClr val="82B068"/>
                </a:solidFill>
              </a:rPr>
              <a:t>Missed problems could damage trust if a breach occurs.</a:t>
            </a:r>
          </a:p>
          <a:p>
            <a:endParaRPr lang="en-US" dirty="0"/>
          </a:p>
          <a:p>
            <a:pPr marL="114300" indent="0" algn="r">
              <a:buNone/>
            </a:pPr>
            <a:r>
              <a:rPr lang="en-US" sz="1700" b="1" dirty="0">
                <a:solidFill>
                  <a:schemeClr val="accent5">
                    <a:lumMod val="60000"/>
                    <a:lumOff val="40000"/>
                  </a:schemeClr>
                </a:solidFill>
              </a:rPr>
              <a:t>The benefits of acting now is stronger protection and fewer expensive fixes later.</a:t>
            </a:r>
            <a:endParaRPr lang="en-US" sz="1700" dirty="0">
              <a:solidFill>
                <a:schemeClr val="accent5">
                  <a:lumMod val="60000"/>
                  <a:lumOff val="40000"/>
                </a:schemeClr>
              </a:solidFill>
            </a:endParaRPr>
          </a:p>
          <a:p>
            <a:endParaRPr lang="en-US" dirty="0"/>
          </a:p>
          <a:p>
            <a:pPr marL="228600" lvl="0" indent="-228600" algn="l" rtl="0">
              <a:lnSpc>
                <a:spcPct val="90000"/>
              </a:lnSpc>
              <a:spcBef>
                <a:spcPts val="0"/>
              </a:spcBef>
              <a:spcAft>
                <a:spcPts val="0"/>
              </a:spcAft>
              <a:buClr>
                <a:schemeClr val="lt1"/>
              </a:buClr>
              <a:buSzPts val="2000"/>
              <a:buChar char="•"/>
            </a:pP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type="body" idx="1"/>
          </p:nvPr>
        </p:nvSpPr>
        <p:spPr>
          <a:xfrm>
            <a:off x="685800" y="2194560"/>
            <a:ext cx="10220325" cy="4024125"/>
          </a:xfrm>
          <a:prstGeom prst="rect">
            <a:avLst/>
          </a:prstGeom>
          <a:noFill/>
          <a:ln>
            <a:noFill/>
          </a:ln>
        </p:spPr>
        <p:txBody>
          <a:bodyPr spcFirstLastPara="1" wrap="square" lIns="91425" tIns="45700" rIns="91425" bIns="45700" anchor="t" anchorCtr="0">
            <a:normAutofit/>
          </a:bodyPr>
          <a:lstStyle/>
          <a:p>
            <a:pPr marL="1143000" lvl="2" indent="-228600">
              <a:lnSpc>
                <a:spcPct val="150000"/>
              </a:lnSpc>
              <a:spcBef>
                <a:spcPts val="0"/>
              </a:spcBef>
            </a:pPr>
            <a:r>
              <a:rPr lang="en-US" sz="2000" dirty="0">
                <a:solidFill>
                  <a:srgbClr val="82B068"/>
                </a:solidFill>
              </a:rPr>
              <a:t>Keep the security policy updated as new threats appear.</a:t>
            </a:r>
          </a:p>
          <a:p>
            <a:pPr marL="1143000" lvl="2" indent="-228600">
              <a:lnSpc>
                <a:spcPct val="150000"/>
              </a:lnSpc>
              <a:spcBef>
                <a:spcPts val="0"/>
              </a:spcBef>
            </a:pPr>
            <a:r>
              <a:rPr lang="en-US" sz="2000" dirty="0">
                <a:solidFill>
                  <a:srgbClr val="82B068"/>
                </a:solidFill>
              </a:rPr>
              <a:t>Add more coding standards as the development team grows.</a:t>
            </a:r>
          </a:p>
          <a:p>
            <a:pPr marL="1143000" lvl="2" indent="-228600">
              <a:lnSpc>
                <a:spcPct val="150000"/>
              </a:lnSpc>
              <a:spcBef>
                <a:spcPts val="0"/>
              </a:spcBef>
            </a:pPr>
            <a:r>
              <a:rPr lang="en-US" sz="2000" dirty="0">
                <a:solidFill>
                  <a:srgbClr val="82B068"/>
                </a:solidFill>
              </a:rPr>
              <a:t>Require regular secure coding training for developers.</a:t>
            </a:r>
          </a:p>
          <a:p>
            <a:pPr marL="1143000" lvl="2" indent="-228600">
              <a:lnSpc>
                <a:spcPct val="150000"/>
              </a:lnSpc>
              <a:spcBef>
                <a:spcPts val="0"/>
              </a:spcBef>
            </a:pPr>
            <a:r>
              <a:rPr lang="en-US" sz="2000" dirty="0">
                <a:solidFill>
                  <a:srgbClr val="82B068"/>
                </a:solidFill>
              </a:rPr>
              <a:t>Use automated tools to check code during development.</a:t>
            </a:r>
          </a:p>
          <a:p>
            <a:pPr marL="1143000" lvl="2" indent="-228600">
              <a:lnSpc>
                <a:spcPct val="150000"/>
              </a:lnSpc>
              <a:spcBef>
                <a:spcPts val="0"/>
              </a:spcBef>
            </a:pPr>
            <a:r>
              <a:rPr lang="en-US" sz="2000" dirty="0">
                <a:solidFill>
                  <a:srgbClr val="82B068"/>
                </a:solidFill>
              </a:rPr>
              <a:t>Review access control policies for default deny and least privilege.</a:t>
            </a:r>
          </a:p>
          <a:p>
            <a:pPr marL="1143000" lvl="2" indent="-228600">
              <a:lnSpc>
                <a:spcPct val="150000"/>
              </a:lnSpc>
              <a:spcBef>
                <a:spcPts val="0"/>
              </a:spcBef>
            </a:pPr>
            <a:r>
              <a:rPr lang="en-US" sz="2000" dirty="0">
                <a:solidFill>
                  <a:srgbClr val="82B068"/>
                </a:solidFill>
              </a:rPr>
              <a:t>Continue using unit testing and static analysis before release.</a:t>
            </a:r>
          </a:p>
          <a:p>
            <a:pPr marL="1143000" lvl="2" indent="-228600">
              <a:spcBef>
                <a:spcPts val="0"/>
              </a:spcBef>
            </a:pPr>
            <a:endParaRPr lang="en-US" sz="1400" dirty="0"/>
          </a:p>
          <a:p>
            <a:pPr marL="1143000" lvl="2" indent="-228600">
              <a:spcBef>
                <a:spcPts val="0"/>
              </a:spcBef>
            </a:pPr>
            <a:endParaRPr lang="en-US" sz="1400" dirty="0"/>
          </a:p>
          <a:p>
            <a:pPr marL="1143000" lvl="2" indent="-228600">
              <a:spcBef>
                <a:spcPts val="0"/>
              </a:spcBef>
            </a:pPr>
            <a:endParaRPr lang="en-US" sz="1400" dirty="0"/>
          </a:p>
          <a:p>
            <a:pPr marL="1143000" lvl="2" indent="-228600">
              <a:spcBef>
                <a:spcPts val="0"/>
              </a:spcBef>
            </a:pPr>
            <a:endParaRPr lang="en-US" sz="1400" dirty="0"/>
          </a:p>
          <a:p>
            <a:pPr marL="914400" lvl="2" indent="0" algn="r">
              <a:spcBef>
                <a:spcPts val="0"/>
              </a:spcBef>
              <a:buNone/>
            </a:pPr>
            <a:r>
              <a:rPr lang="en-US" sz="1400" b="1" dirty="0">
                <a:solidFill>
                  <a:schemeClr val="accent5">
                    <a:lumMod val="60000"/>
                    <a:lumOff val="40000"/>
                  </a:schemeClr>
                </a:solidFill>
              </a:rPr>
              <a:t>Green Pace should treat security policy as an ongoing process, not a one-time document.</a:t>
            </a:r>
            <a:endParaRPr lang="en-US" sz="1400" dirty="0">
              <a:solidFill>
                <a:schemeClr val="accent5">
                  <a:lumMod val="60000"/>
                  <a:lumOff val="40000"/>
                </a:schemeClr>
              </a:solidFill>
            </a:endParaRPr>
          </a:p>
          <a:p>
            <a:pPr marL="1143000" lvl="2" indent="-228600">
              <a:spcBef>
                <a:spcPts val="0"/>
              </a:spcBef>
            </a:pPr>
            <a:endParaRPr sz="14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CONCLUSIONS</a:t>
            </a:r>
            <a:endParaRPr dirty="0"/>
          </a:p>
        </p:txBody>
      </p:sp>
      <p:sp>
        <p:nvSpPr>
          <p:cNvPr id="231" name="Google Shape;231;p13"/>
          <p:cNvSpPr txBox="1">
            <a:spLocks noGrp="1"/>
          </p:cNvSpPr>
          <p:nvPr>
            <p:ph type="body" idx="1"/>
          </p:nvPr>
        </p:nvSpPr>
        <p:spPr>
          <a:xfrm>
            <a:off x="552451" y="1991013"/>
            <a:ext cx="10229850" cy="4333587"/>
          </a:xfrm>
          <a:prstGeom prst="rect">
            <a:avLst/>
          </a:prstGeom>
          <a:noFill/>
          <a:ln>
            <a:noFill/>
          </a:ln>
        </p:spPr>
        <p:txBody>
          <a:bodyPr spcFirstLastPara="1" wrap="square" lIns="91425" tIns="45700" rIns="91425" bIns="45700" anchor="t" anchorCtr="0">
            <a:normAutofit fontScale="92500" lnSpcReduction="20000"/>
          </a:bodyPr>
          <a:lstStyle/>
          <a:p>
            <a:pPr marL="482600">
              <a:lnSpc>
                <a:spcPct val="150000"/>
              </a:lnSpc>
              <a:buSzPts val="2200"/>
            </a:pPr>
            <a:r>
              <a:rPr lang="en-US" dirty="0">
                <a:solidFill>
                  <a:srgbClr val="82B068"/>
                </a:solidFill>
              </a:rPr>
              <a:t>Green Pace should continue using SEI CERT C/C++ secure coding standards.</a:t>
            </a:r>
          </a:p>
          <a:p>
            <a:pPr marL="482600">
              <a:lnSpc>
                <a:spcPct val="150000"/>
              </a:lnSpc>
              <a:buSzPts val="2200"/>
            </a:pPr>
            <a:r>
              <a:rPr lang="en-US" dirty="0">
                <a:solidFill>
                  <a:srgbClr val="82B068"/>
                </a:solidFill>
              </a:rPr>
              <a:t>The team should adopt OWASP guidance for web application security.</a:t>
            </a:r>
          </a:p>
          <a:p>
            <a:pPr marL="482600">
              <a:lnSpc>
                <a:spcPct val="150000"/>
              </a:lnSpc>
              <a:buSzPts val="2200"/>
            </a:pPr>
            <a:r>
              <a:rPr lang="en-US" dirty="0">
                <a:solidFill>
                  <a:srgbClr val="82B068"/>
                </a:solidFill>
              </a:rPr>
              <a:t>Unit testing should be required before code is released.</a:t>
            </a:r>
          </a:p>
          <a:p>
            <a:pPr marL="482600">
              <a:lnSpc>
                <a:spcPct val="150000"/>
              </a:lnSpc>
              <a:buSzPts val="2200"/>
            </a:pPr>
            <a:r>
              <a:rPr lang="en-US" dirty="0">
                <a:solidFill>
                  <a:srgbClr val="82B068"/>
                </a:solidFill>
              </a:rPr>
              <a:t>Static analysis tools should be used during development.</a:t>
            </a:r>
          </a:p>
          <a:p>
            <a:pPr marL="482600">
              <a:lnSpc>
                <a:spcPct val="150000"/>
              </a:lnSpc>
              <a:buSzPts val="2200"/>
            </a:pPr>
            <a:r>
              <a:rPr lang="en-US" dirty="0">
                <a:solidFill>
                  <a:srgbClr val="82B068"/>
                </a:solidFill>
              </a:rPr>
              <a:t>Access control should follow default deny and the principle of least privilege.</a:t>
            </a:r>
          </a:p>
          <a:p>
            <a:pPr marL="482600">
              <a:lnSpc>
                <a:spcPct val="150000"/>
              </a:lnSpc>
              <a:buSzPts val="2200"/>
            </a:pPr>
            <a:r>
              <a:rPr lang="en-US" dirty="0">
                <a:solidFill>
                  <a:srgbClr val="82B068"/>
                </a:solidFill>
              </a:rPr>
              <a:t>Security policies should be reviewed and updated regularly.</a:t>
            </a:r>
          </a:p>
          <a:p>
            <a:pPr marL="482600">
              <a:buSzPts val="2200"/>
            </a:pPr>
            <a:endParaRPr lang="en-US" dirty="0"/>
          </a:p>
          <a:p>
            <a:pPr marL="482600">
              <a:buSzPts val="2200"/>
            </a:pPr>
            <a:endParaRPr lang="en-US" dirty="0"/>
          </a:p>
          <a:p>
            <a:pPr marL="139700" indent="0" algn="r">
              <a:buSzPts val="2200"/>
              <a:buNone/>
            </a:pPr>
            <a:r>
              <a:rPr lang="en-US" sz="1600" b="1" dirty="0">
                <a:solidFill>
                  <a:schemeClr val="accent5">
                    <a:lumMod val="60000"/>
                    <a:lumOff val="40000"/>
                  </a:schemeClr>
                </a:solidFill>
              </a:rPr>
              <a:t>These standards help Green Pace prevent future problems and maintain stronger security over time.</a:t>
            </a:r>
            <a:endParaRPr lang="en-US" sz="1600" dirty="0">
              <a:solidFill>
                <a:schemeClr val="accent5">
                  <a:lumMod val="60000"/>
                  <a:lumOff val="40000"/>
                </a:schemeClr>
              </a:solidFill>
            </a:endParaRPr>
          </a:p>
          <a:p>
            <a:pPr marL="482600">
              <a:buSzPts val="2200"/>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REFERENCES</a:t>
            </a:r>
            <a:endParaRPr dirty="0"/>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85000" lnSpcReduction="20000"/>
          </a:bodyPr>
          <a:lstStyle/>
          <a:p>
            <a:pPr marL="285750" indent="-285750">
              <a:lnSpc>
                <a:spcPct val="200000"/>
              </a:lnSpc>
              <a:spcBef>
                <a:spcPts val="0"/>
              </a:spcBef>
              <a:buSzPts val="2200"/>
            </a:pPr>
            <a:r>
              <a:rPr lang="en-US" sz="1600" dirty="0"/>
              <a:t>Seacord, R. C. (2013). Secure coding in C and C++ (2nd ed.). Addison-Wesley Professional.</a:t>
            </a:r>
          </a:p>
          <a:p>
            <a:pPr marL="285750" indent="-285750">
              <a:lnSpc>
                <a:spcPct val="200000"/>
              </a:lnSpc>
              <a:spcBef>
                <a:spcPts val="0"/>
              </a:spcBef>
              <a:buSzPts val="2200"/>
            </a:pPr>
            <a:endParaRPr lang="en-US" sz="1600" dirty="0"/>
          </a:p>
          <a:p>
            <a:pPr marL="285750" indent="-285750">
              <a:lnSpc>
                <a:spcPct val="200000"/>
              </a:lnSpc>
              <a:spcBef>
                <a:spcPts val="0"/>
              </a:spcBef>
              <a:buSzPts val="2200"/>
            </a:pPr>
            <a:r>
              <a:rPr lang="en-US" sz="1600" dirty="0"/>
              <a:t>Mend.io. (2020, June 13). Secure coding: A practical guide. </a:t>
            </a:r>
            <a:r>
              <a:rPr lang="en-US" sz="1600" dirty="0">
                <a:hlinkClick r:id="rId4"/>
              </a:rPr>
              <a:t>https://www.mend.io/blog/secure-coding/</a:t>
            </a:r>
            <a:endParaRPr lang="en-US" sz="1600" dirty="0"/>
          </a:p>
          <a:p>
            <a:pPr marL="285750" indent="-285750">
              <a:lnSpc>
                <a:spcPct val="200000"/>
              </a:lnSpc>
              <a:spcBef>
                <a:spcPts val="0"/>
              </a:spcBef>
              <a:buSzPts val="2200"/>
            </a:pPr>
            <a:endParaRPr lang="en-US" sz="1600" dirty="0"/>
          </a:p>
          <a:p>
            <a:pPr marL="285750" indent="-285750">
              <a:lnSpc>
                <a:spcPct val="200000"/>
              </a:lnSpc>
              <a:spcBef>
                <a:spcPts val="0"/>
              </a:spcBef>
              <a:buSzPts val="2200"/>
            </a:pPr>
            <a:r>
              <a:rPr lang="en-US" sz="1600" dirty="0"/>
              <a:t>Cairns, C. (2017, January 5). The basics of web application security. Martin Fowler. </a:t>
            </a:r>
            <a:r>
              <a:rPr lang="en-US" sz="1600" dirty="0">
                <a:hlinkClick r:id="rId5"/>
              </a:rPr>
              <a:t>https://martinfowler.com/articles/web-security-basics.html</a:t>
            </a:r>
            <a:endParaRPr lang="en-US" sz="1600" dirty="0"/>
          </a:p>
          <a:p>
            <a:pPr marL="285750" indent="-285750">
              <a:lnSpc>
                <a:spcPct val="200000"/>
              </a:lnSpc>
              <a:spcBef>
                <a:spcPts val="0"/>
              </a:spcBef>
              <a:buSzPts val="2200"/>
            </a:pPr>
            <a:endParaRPr lang="en-US" sz="1600" dirty="0"/>
          </a:p>
          <a:p>
            <a:pPr marL="285750" indent="-285750">
              <a:lnSpc>
                <a:spcPct val="200000"/>
              </a:lnSpc>
              <a:spcBef>
                <a:spcPts val="0"/>
              </a:spcBef>
              <a:buSzPts val="2200"/>
            </a:pPr>
            <a:r>
              <a:rPr lang="en-US" sz="1600" dirty="0" err="1"/>
              <a:t>GeeksforGeeks</a:t>
            </a:r>
            <a:r>
              <a:rPr lang="en-US" sz="1600" dirty="0"/>
              <a:t>. (2021, October 28). AAA (authentication, authorization and accounting). </a:t>
            </a:r>
            <a:r>
              <a:rPr lang="en-US" sz="1600" dirty="0">
                <a:hlinkClick r:id="rId6"/>
              </a:rPr>
              <a:t>https://www.geeksforgeeks.org/computer-networks/computer-network-aaa-authentication-authorization-and-accounting/</a:t>
            </a:r>
            <a:endParaRPr lang="en-US" sz="1600" dirty="0"/>
          </a:p>
        </p:txBody>
      </p:sp>
      <p:pic>
        <p:nvPicPr>
          <p:cNvPr id="239" name="Google Shape;239;p14"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168</TotalTime>
  <Words>1040</Words>
  <Application>Microsoft Office PowerPoint</Application>
  <PresentationFormat>Widescreen</PresentationFormat>
  <Paragraphs>189</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Testing</vt:lpstr>
      <vt:lpstr>Unit Testing</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LaTisha Burns</cp:lastModifiedBy>
  <cp:revision>12</cp:revision>
  <dcterms:created xsi:type="dcterms:W3CDTF">2020-08-19T17:59:24Z</dcterms:created>
  <dcterms:modified xsi:type="dcterms:W3CDTF">2026-06-21T23:54:42Z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